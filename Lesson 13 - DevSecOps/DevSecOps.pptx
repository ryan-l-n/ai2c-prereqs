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Play"/>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3A9F75-0D71-4C33-92E3-DF036C11306A}">
  <a:tblStyle styleId="{FC3A9F75-0D71-4C33-92E3-DF036C11306A}"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bold.fntdata"/><Relationship Id="rId10" Type="http://schemas.openxmlformats.org/officeDocument/2006/relationships/slide" Target="slides/slide5.xml"/><Relationship Id="rId32" Type="http://schemas.openxmlformats.org/officeDocument/2006/relationships/font" Target="fonts/Play-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106" name="Google Shape;10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129" name="Google Shape;12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The Toyota Production System (TPS) originated from a man named Sakichi Toyoda in the 1920s.</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Sakichi had a strong sense of public service and “doing things for others.”</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One of the first people he wanted to help was his mom, who would sew all night using manual loom. </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To help her, he invented an automatic loom. </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What made it unique was it would stop if a sewing needle broke. </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With a manual loom, the loom continues even if the needle is broken.  </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When this occurred, the downstream process would produce runs in the fabric stitches of the final product. </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By eliminating both defective products and the associated wasteful practices, Sakichi succeeded in rapidly improving both productivity and work efficiency. </a:t>
            </a:r>
            <a:endParaRPr/>
          </a:p>
          <a:p>
            <a:pPr indent="-342900" lvl="0" marL="34290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This is where the concept of jidoka was born.</a:t>
            </a:r>
            <a:endParaRPr/>
          </a:p>
          <a:p>
            <a:pPr indent="-266700" lvl="0" marL="342900" rtl="0" algn="l">
              <a:spcBef>
                <a:spcPts val="0"/>
              </a:spcBef>
              <a:spcAft>
                <a:spcPts val="0"/>
              </a:spcAft>
              <a:buClr>
                <a:schemeClr val="dk1"/>
              </a:buClr>
              <a:buSzPts val="1200"/>
              <a:buFont typeface="Arial"/>
              <a:buNone/>
            </a:pPr>
            <a:r>
              <a:t/>
            </a:r>
            <a:endParaRPr/>
          </a:p>
        </p:txBody>
      </p:sp>
      <p:sp>
        <p:nvSpPr>
          <p:cNvPr id="152" name="Google Shape;1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Clr>
                <a:schemeClr val="dk1"/>
              </a:buClr>
              <a:buSzPts val="1200"/>
              <a:buFont typeface="Arial"/>
              <a:buNone/>
            </a:pPr>
            <a:r>
              <a:rPr lang="en-US"/>
              <a:t>Human is always in the loop</a:t>
            </a:r>
            <a:endParaRPr/>
          </a:p>
        </p:txBody>
      </p:sp>
      <p:sp>
        <p:nvSpPr>
          <p:cNvPr id="177" name="Google Shape;17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The idea behind Jidoka is that by stopping the system you get an immediate opportunity for improvement</a:t>
            </a:r>
            <a:endParaRPr/>
          </a:p>
        </p:txBody>
      </p:sp>
      <p:sp>
        <p:nvSpPr>
          <p:cNvPr id="200" name="Google Shape;2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The idea behind Jidoka is that by stopping the system you get an immediate opportunity for improvement</a:t>
            </a:r>
            <a:endParaRPr/>
          </a:p>
          <a:p>
            <a:pPr indent="-171450" lvl="0" marL="171450" rtl="0" algn="l">
              <a:spcBef>
                <a:spcPts val="0"/>
              </a:spcBef>
              <a:spcAft>
                <a:spcPts val="0"/>
              </a:spcAft>
              <a:buClr>
                <a:schemeClr val="dk1"/>
              </a:buClr>
              <a:buSzPts val="1200"/>
              <a:buFont typeface="Arial"/>
              <a:buChar char="•"/>
            </a:pPr>
            <a:r>
              <a:rPr lang="en-US"/>
              <a:t>Another key take way is to “make work visible” so others can help surge on the problem (Lean introduces kanban boards)</a:t>
            </a:r>
            <a:endParaRPr/>
          </a:p>
          <a:p>
            <a:pPr indent="-171450" lvl="0" marL="171450" rtl="0" algn="l">
              <a:spcBef>
                <a:spcPts val="0"/>
              </a:spcBef>
              <a:spcAft>
                <a:spcPts val="0"/>
              </a:spcAft>
              <a:buClr>
                <a:schemeClr val="dk1"/>
              </a:buClr>
              <a:buSzPts val="1200"/>
              <a:buFont typeface="Arial"/>
              <a:buChar char="•"/>
            </a:pPr>
            <a:r>
              <a:rPr lang="en-US"/>
              <a:t>Everyone should be working towards global goals</a:t>
            </a:r>
            <a:endParaRPr/>
          </a:p>
        </p:txBody>
      </p:sp>
      <p:sp>
        <p:nvSpPr>
          <p:cNvPr id="224" name="Google Shape;2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1</a:t>
            </a:r>
            <a:r>
              <a:rPr baseline="30000" lang="en-US"/>
              <a:t>st</a:t>
            </a:r>
            <a:r>
              <a:rPr lang="en-US"/>
              <a:t> Waste: Partial work</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2" marL="1085850" rtl="0" algn="l">
              <a:spcBef>
                <a:spcPts val="0"/>
              </a:spcBef>
              <a:spcAft>
                <a:spcPts val="0"/>
              </a:spcAft>
              <a:buClr>
                <a:schemeClr val="dk1"/>
              </a:buClr>
              <a:buSzPts val="1200"/>
              <a:buFont typeface="Arial"/>
              <a:buChar char="•"/>
            </a:pPr>
            <a:r>
              <a:rPr lang="en-US"/>
              <a:t>Sign up to do something</a:t>
            </a:r>
            <a:endParaRPr/>
          </a:p>
          <a:p>
            <a:pPr indent="-171450" lvl="2" marL="1085850" rtl="0" algn="l">
              <a:spcBef>
                <a:spcPts val="0"/>
              </a:spcBef>
              <a:spcAft>
                <a:spcPts val="0"/>
              </a:spcAft>
              <a:buClr>
                <a:schemeClr val="dk1"/>
              </a:buClr>
              <a:buSzPts val="1200"/>
              <a:buFont typeface="Arial"/>
              <a:buChar char="•"/>
            </a:pPr>
            <a:r>
              <a:rPr lang="en-US"/>
              <a:t>Waiting around to finish that something</a:t>
            </a:r>
            <a:endParaRPr/>
          </a:p>
          <a:p>
            <a:pPr indent="-171450" lvl="2" marL="1085850" rtl="0" algn="l">
              <a:spcBef>
                <a:spcPts val="0"/>
              </a:spcBef>
              <a:spcAft>
                <a:spcPts val="0"/>
              </a:spcAft>
              <a:buClr>
                <a:schemeClr val="dk1"/>
              </a:buClr>
              <a:buSzPts val="1200"/>
              <a:buFont typeface="Arial"/>
              <a:buChar char="•"/>
            </a:pPr>
            <a:r>
              <a:rPr lang="en-US"/>
              <a:t>There comes a point where you’re spending more time managing projects than making progress on them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Identify what your “buckets” and how much they can handle and then enforce that </a:t>
            </a:r>
            <a:endParaRPr/>
          </a:p>
          <a:p>
            <a:pPr indent="-171450" lvl="0" marL="171450" rtl="0" algn="l">
              <a:spcBef>
                <a:spcPts val="0"/>
              </a:spcBef>
              <a:spcAft>
                <a:spcPts val="0"/>
              </a:spcAft>
              <a:buClr>
                <a:schemeClr val="dk1"/>
              </a:buClr>
              <a:buSzPts val="1200"/>
              <a:buFont typeface="Arial"/>
              <a:buChar char="•"/>
            </a:pPr>
            <a:r>
              <a:rPr lang="en-US"/>
              <a:t>2</a:t>
            </a:r>
            <a:r>
              <a:rPr baseline="30000" lang="en-US"/>
              <a:t>nd</a:t>
            </a:r>
            <a:r>
              <a:rPr lang="en-US"/>
              <a:t> Waste: Transportation</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Be diligent in your communication</a:t>
            </a:r>
            <a:endParaRPr/>
          </a:p>
          <a:p>
            <a:pPr indent="-171450" lvl="2" marL="1085850" rtl="0" algn="l">
              <a:spcBef>
                <a:spcPts val="0"/>
              </a:spcBef>
              <a:spcAft>
                <a:spcPts val="0"/>
              </a:spcAft>
              <a:buClr>
                <a:schemeClr val="dk1"/>
              </a:buClr>
              <a:buSzPts val="1200"/>
              <a:buFont typeface="Arial"/>
              <a:buChar char="•"/>
            </a:pPr>
            <a:r>
              <a:rPr lang="en-US"/>
              <a:t>Follow a protocol that improves quality and reduces quantity of DMs</a:t>
            </a:r>
            <a:endParaRPr/>
          </a:p>
          <a:p>
            <a:pPr indent="-171450" lvl="1" marL="628650" rtl="0" algn="l">
              <a:spcBef>
                <a:spcPts val="0"/>
              </a:spcBef>
              <a:spcAft>
                <a:spcPts val="0"/>
              </a:spcAft>
              <a:buClr>
                <a:schemeClr val="dk1"/>
              </a:buClr>
              <a:buSzPts val="1200"/>
              <a:buFont typeface="Arial"/>
              <a:buChar char="•"/>
            </a:pPr>
            <a:r>
              <a:rPr lang="en-US"/>
              <a:t>Reference: Hamster Revolution</a:t>
            </a:r>
            <a:endParaRPr/>
          </a:p>
          <a:p>
            <a:pPr indent="-171450" lvl="0" marL="171450" rtl="0" algn="l">
              <a:spcBef>
                <a:spcPts val="0"/>
              </a:spcBef>
              <a:spcAft>
                <a:spcPts val="0"/>
              </a:spcAft>
              <a:buClr>
                <a:schemeClr val="dk1"/>
              </a:buClr>
              <a:buSzPts val="1200"/>
              <a:buFont typeface="Arial"/>
              <a:buChar char="•"/>
            </a:pPr>
            <a:r>
              <a:rPr lang="en-US"/>
              <a:t>3</a:t>
            </a:r>
            <a:r>
              <a:rPr baseline="30000" lang="en-US"/>
              <a:t>rd</a:t>
            </a:r>
            <a:r>
              <a:rPr lang="en-US"/>
              <a:t> Waste: Movement (looking for stuff)</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Sort by COTA (Customers, Outputs, Teams, Admin)</a:t>
            </a:r>
            <a:endParaRPr/>
          </a:p>
          <a:p>
            <a:pPr indent="-171450" lvl="0" marL="171450" rtl="0" algn="l">
              <a:spcBef>
                <a:spcPts val="0"/>
              </a:spcBef>
              <a:spcAft>
                <a:spcPts val="0"/>
              </a:spcAft>
              <a:buClr>
                <a:schemeClr val="dk1"/>
              </a:buClr>
              <a:buSzPts val="1200"/>
              <a:buFont typeface="Arial"/>
              <a:buChar char="•"/>
            </a:pPr>
            <a:r>
              <a:rPr lang="en-US"/>
              <a:t>4</a:t>
            </a:r>
            <a:r>
              <a:rPr baseline="30000" lang="en-US"/>
              <a:t>th</a:t>
            </a:r>
            <a:r>
              <a:rPr lang="en-US"/>
              <a:t> Waste: Waiting</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Spend that time thinking</a:t>
            </a:r>
            <a:endParaRPr/>
          </a:p>
          <a:p>
            <a:pPr indent="-171450" lvl="2" marL="1085850" rtl="0" algn="l">
              <a:spcBef>
                <a:spcPts val="0"/>
              </a:spcBef>
              <a:spcAft>
                <a:spcPts val="0"/>
              </a:spcAft>
              <a:buClr>
                <a:schemeClr val="dk1"/>
              </a:buClr>
              <a:buSzPts val="1200"/>
              <a:buFont typeface="Arial"/>
              <a:buChar char="•"/>
            </a:pPr>
            <a:r>
              <a:rPr lang="en-US"/>
              <a:t>Reorganize</a:t>
            </a:r>
            <a:endParaRPr/>
          </a:p>
          <a:p>
            <a:pPr indent="-171450" lvl="2" marL="1085850" rtl="0" algn="l">
              <a:spcBef>
                <a:spcPts val="0"/>
              </a:spcBef>
              <a:spcAft>
                <a:spcPts val="0"/>
              </a:spcAft>
              <a:buClr>
                <a:schemeClr val="dk1"/>
              </a:buClr>
              <a:buSzPts val="1200"/>
              <a:buFont typeface="Arial"/>
              <a:buChar char="•"/>
            </a:pPr>
            <a:r>
              <a:rPr lang="en-US"/>
              <a:t>Surge</a:t>
            </a:r>
            <a:endParaRPr/>
          </a:p>
          <a:p>
            <a:pPr indent="-171450" lvl="0" marL="171450" rtl="0" algn="l">
              <a:spcBef>
                <a:spcPts val="0"/>
              </a:spcBef>
              <a:spcAft>
                <a:spcPts val="0"/>
              </a:spcAft>
              <a:buClr>
                <a:schemeClr val="dk1"/>
              </a:buClr>
              <a:buSzPts val="1200"/>
              <a:buFont typeface="Arial"/>
              <a:buChar char="•"/>
            </a:pPr>
            <a:r>
              <a:rPr lang="en-US"/>
              <a:t>5</a:t>
            </a:r>
            <a:r>
              <a:rPr baseline="30000" lang="en-US"/>
              <a:t>th</a:t>
            </a:r>
            <a:r>
              <a:rPr lang="en-US"/>
              <a:t> Waste: Defects</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Use checklists</a:t>
            </a:r>
            <a:endParaRPr/>
          </a:p>
          <a:p>
            <a:pPr indent="-171450" lvl="0" marL="171450" rtl="0" algn="l">
              <a:spcBef>
                <a:spcPts val="0"/>
              </a:spcBef>
              <a:spcAft>
                <a:spcPts val="0"/>
              </a:spcAft>
              <a:buClr>
                <a:schemeClr val="dk1"/>
              </a:buClr>
              <a:buSzPts val="1200"/>
              <a:buFont typeface="Arial"/>
              <a:buChar char="•"/>
            </a:pPr>
            <a:r>
              <a:rPr lang="en-US"/>
              <a:t>6</a:t>
            </a:r>
            <a:r>
              <a:rPr baseline="30000" lang="en-US"/>
              <a:t>th</a:t>
            </a:r>
            <a:r>
              <a:rPr lang="en-US"/>
              <a:t> Waste: Overprocessing</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2" marL="1085850" rtl="0" algn="l">
              <a:spcBef>
                <a:spcPts val="0"/>
              </a:spcBef>
              <a:spcAft>
                <a:spcPts val="0"/>
              </a:spcAft>
              <a:buClr>
                <a:schemeClr val="dk1"/>
              </a:buClr>
              <a:buSzPts val="1200"/>
              <a:buFont typeface="Arial"/>
              <a:buChar char="•"/>
            </a:pPr>
            <a:r>
              <a:rPr lang="en-US"/>
              <a:t>Doing more than what the customer wants</a:t>
            </a:r>
            <a:endParaRPr/>
          </a:p>
          <a:p>
            <a:pPr indent="-171450" lvl="2" marL="1085850" rtl="0" algn="l">
              <a:spcBef>
                <a:spcPts val="0"/>
              </a:spcBef>
              <a:spcAft>
                <a:spcPts val="0"/>
              </a:spcAft>
              <a:buClr>
                <a:schemeClr val="dk1"/>
              </a:buClr>
              <a:buSzPts val="1200"/>
              <a:buFont typeface="Arial"/>
              <a:buChar char="•"/>
            </a:pPr>
            <a:r>
              <a:rPr lang="en-US"/>
              <a:t>Multi-tasking (maker vs manager schedule)</a:t>
            </a:r>
            <a:endParaRPr/>
          </a:p>
          <a:p>
            <a:pPr indent="-171450" lvl="1" marL="628650" rtl="0" algn="l">
              <a:spcBef>
                <a:spcPts val="0"/>
              </a:spcBef>
              <a:spcAft>
                <a:spcPts val="0"/>
              </a:spcAft>
              <a:buClr>
                <a:schemeClr val="dk1"/>
              </a:buClr>
              <a:buSzPts val="1200"/>
              <a:buFont typeface="Arial"/>
              <a:buChar char="•"/>
            </a:pPr>
            <a:r>
              <a:rPr lang="en-US"/>
              <a:t>Solution: </a:t>
            </a:r>
            <a:endParaRPr/>
          </a:p>
          <a:p>
            <a:pPr indent="-171450" lvl="0" marL="171450" rtl="0" algn="l">
              <a:spcBef>
                <a:spcPts val="0"/>
              </a:spcBef>
              <a:spcAft>
                <a:spcPts val="0"/>
              </a:spcAft>
              <a:buClr>
                <a:schemeClr val="dk1"/>
              </a:buClr>
              <a:buSzPts val="1200"/>
              <a:buFont typeface="Arial"/>
              <a:buChar char="•"/>
            </a:pPr>
            <a:r>
              <a:rPr lang="en-US"/>
              <a:t>7</a:t>
            </a:r>
            <a:r>
              <a:rPr baseline="30000" lang="en-US"/>
              <a:t>th</a:t>
            </a:r>
            <a:r>
              <a:rPr lang="en-US"/>
              <a:t> Waste: Overproduction</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2" marL="1085850" rtl="0" algn="l">
              <a:spcBef>
                <a:spcPts val="0"/>
              </a:spcBef>
              <a:spcAft>
                <a:spcPts val="0"/>
              </a:spcAft>
              <a:buClr>
                <a:schemeClr val="dk1"/>
              </a:buClr>
              <a:buSzPts val="1200"/>
              <a:buFont typeface="Arial"/>
              <a:buChar char="•"/>
            </a:pPr>
            <a:r>
              <a:rPr lang="en-US"/>
              <a:t>Knowledge too early (it expires before it can be applied)</a:t>
            </a:r>
            <a:endParaRPr/>
          </a:p>
          <a:p>
            <a:pPr indent="-171450" lvl="1" marL="628650" rtl="0" algn="l">
              <a:spcBef>
                <a:spcPts val="0"/>
              </a:spcBef>
              <a:spcAft>
                <a:spcPts val="0"/>
              </a:spcAft>
              <a:buClr>
                <a:schemeClr val="dk1"/>
              </a:buClr>
              <a:buSzPts val="1200"/>
              <a:buFont typeface="Arial"/>
              <a:buChar char="•"/>
            </a:pPr>
            <a:r>
              <a:rPr lang="en-US"/>
              <a:t>Solution:</a:t>
            </a:r>
            <a:endParaRPr/>
          </a:p>
          <a:p>
            <a:pPr indent="-95250" lvl="1" marL="628650" rtl="0" algn="l">
              <a:spcBef>
                <a:spcPts val="0"/>
              </a:spcBef>
              <a:spcAft>
                <a:spcPts val="0"/>
              </a:spcAft>
              <a:buClr>
                <a:schemeClr val="dk1"/>
              </a:buClr>
              <a:buSzPts val="1200"/>
              <a:buFont typeface="Arial"/>
              <a:buNone/>
            </a:pPr>
            <a:r>
              <a:t/>
            </a:r>
            <a:endParaRPr/>
          </a:p>
          <a:p>
            <a:pPr indent="-95250" lvl="2" marL="1085850" rtl="0" algn="l">
              <a:spcBef>
                <a:spcPts val="0"/>
              </a:spcBef>
              <a:spcAft>
                <a:spcPts val="0"/>
              </a:spcAft>
              <a:buClr>
                <a:schemeClr val="dk1"/>
              </a:buClr>
              <a:buSzPts val="1200"/>
              <a:buFont typeface="Arial"/>
              <a:buNone/>
            </a:pPr>
            <a:r>
              <a:t/>
            </a:r>
            <a:endParaRPr/>
          </a:p>
        </p:txBody>
      </p:sp>
      <p:sp>
        <p:nvSpPr>
          <p:cNvPr id="247" name="Google Shape;24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1</a:t>
            </a:r>
            <a:r>
              <a:rPr baseline="30000" lang="en-US"/>
              <a:t>st</a:t>
            </a:r>
            <a:r>
              <a:rPr lang="en-US"/>
              <a:t> Waste: Partial work</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2" marL="1085850" rtl="0" algn="l">
              <a:spcBef>
                <a:spcPts val="0"/>
              </a:spcBef>
              <a:spcAft>
                <a:spcPts val="0"/>
              </a:spcAft>
              <a:buClr>
                <a:schemeClr val="dk1"/>
              </a:buClr>
              <a:buSzPts val="1200"/>
              <a:buFont typeface="Arial"/>
              <a:buChar char="•"/>
            </a:pPr>
            <a:r>
              <a:rPr lang="en-US"/>
              <a:t>Sign up to do something</a:t>
            </a:r>
            <a:endParaRPr/>
          </a:p>
          <a:p>
            <a:pPr indent="-171450" lvl="2" marL="1085850" rtl="0" algn="l">
              <a:spcBef>
                <a:spcPts val="0"/>
              </a:spcBef>
              <a:spcAft>
                <a:spcPts val="0"/>
              </a:spcAft>
              <a:buClr>
                <a:schemeClr val="dk1"/>
              </a:buClr>
              <a:buSzPts val="1200"/>
              <a:buFont typeface="Arial"/>
              <a:buChar char="•"/>
            </a:pPr>
            <a:r>
              <a:rPr lang="en-US"/>
              <a:t>Waiting around to finish that something</a:t>
            </a:r>
            <a:endParaRPr/>
          </a:p>
          <a:p>
            <a:pPr indent="-171450" lvl="2" marL="1085850" rtl="0" algn="l">
              <a:spcBef>
                <a:spcPts val="0"/>
              </a:spcBef>
              <a:spcAft>
                <a:spcPts val="0"/>
              </a:spcAft>
              <a:buClr>
                <a:schemeClr val="dk1"/>
              </a:buClr>
              <a:buSzPts val="1200"/>
              <a:buFont typeface="Arial"/>
              <a:buChar char="•"/>
            </a:pPr>
            <a:r>
              <a:rPr lang="en-US"/>
              <a:t>There comes a point where you’re spending more time managing projects than making progress on them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Identify what your “buckets” and how much they can handle and then enforce that </a:t>
            </a:r>
            <a:endParaRPr/>
          </a:p>
          <a:p>
            <a:pPr indent="-171450" lvl="0" marL="171450" rtl="0" algn="l">
              <a:spcBef>
                <a:spcPts val="0"/>
              </a:spcBef>
              <a:spcAft>
                <a:spcPts val="0"/>
              </a:spcAft>
              <a:buClr>
                <a:schemeClr val="dk1"/>
              </a:buClr>
              <a:buSzPts val="1200"/>
              <a:buFont typeface="Arial"/>
              <a:buChar char="•"/>
            </a:pPr>
            <a:r>
              <a:rPr lang="en-US"/>
              <a:t>2</a:t>
            </a:r>
            <a:r>
              <a:rPr baseline="30000" lang="en-US"/>
              <a:t>nd</a:t>
            </a:r>
            <a:r>
              <a:rPr lang="en-US"/>
              <a:t> Waste: Transportation</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Be diligent in your communication</a:t>
            </a:r>
            <a:endParaRPr/>
          </a:p>
          <a:p>
            <a:pPr indent="-171450" lvl="2" marL="1085850" rtl="0" algn="l">
              <a:spcBef>
                <a:spcPts val="0"/>
              </a:spcBef>
              <a:spcAft>
                <a:spcPts val="0"/>
              </a:spcAft>
              <a:buClr>
                <a:schemeClr val="dk1"/>
              </a:buClr>
              <a:buSzPts val="1200"/>
              <a:buFont typeface="Arial"/>
              <a:buChar char="•"/>
            </a:pPr>
            <a:r>
              <a:rPr lang="en-US"/>
              <a:t>Follow a protocol that improves quality and reduces quantity of DMs</a:t>
            </a:r>
            <a:endParaRPr/>
          </a:p>
          <a:p>
            <a:pPr indent="-171450" lvl="1" marL="628650" rtl="0" algn="l">
              <a:spcBef>
                <a:spcPts val="0"/>
              </a:spcBef>
              <a:spcAft>
                <a:spcPts val="0"/>
              </a:spcAft>
              <a:buClr>
                <a:schemeClr val="dk1"/>
              </a:buClr>
              <a:buSzPts val="1200"/>
              <a:buFont typeface="Arial"/>
              <a:buChar char="•"/>
            </a:pPr>
            <a:r>
              <a:rPr lang="en-US"/>
              <a:t>Reference: Hamster Revolution</a:t>
            </a:r>
            <a:endParaRPr/>
          </a:p>
          <a:p>
            <a:pPr indent="-171450" lvl="0" marL="171450" rtl="0" algn="l">
              <a:spcBef>
                <a:spcPts val="0"/>
              </a:spcBef>
              <a:spcAft>
                <a:spcPts val="0"/>
              </a:spcAft>
              <a:buClr>
                <a:schemeClr val="dk1"/>
              </a:buClr>
              <a:buSzPts val="1200"/>
              <a:buFont typeface="Arial"/>
              <a:buChar char="•"/>
            </a:pPr>
            <a:r>
              <a:rPr lang="en-US"/>
              <a:t>3</a:t>
            </a:r>
            <a:r>
              <a:rPr baseline="30000" lang="en-US"/>
              <a:t>rd</a:t>
            </a:r>
            <a:r>
              <a:rPr lang="en-US"/>
              <a:t> Waste: Movement (looking for stuff)</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Sort by COTA (Customers, Outputs, Teams, Admin)</a:t>
            </a:r>
            <a:endParaRPr/>
          </a:p>
          <a:p>
            <a:pPr indent="-171450" lvl="0" marL="171450" rtl="0" algn="l">
              <a:spcBef>
                <a:spcPts val="0"/>
              </a:spcBef>
              <a:spcAft>
                <a:spcPts val="0"/>
              </a:spcAft>
              <a:buClr>
                <a:schemeClr val="dk1"/>
              </a:buClr>
              <a:buSzPts val="1200"/>
              <a:buFont typeface="Arial"/>
              <a:buChar char="•"/>
            </a:pPr>
            <a:r>
              <a:rPr lang="en-US"/>
              <a:t>4</a:t>
            </a:r>
            <a:r>
              <a:rPr baseline="30000" lang="en-US"/>
              <a:t>th</a:t>
            </a:r>
            <a:r>
              <a:rPr lang="en-US"/>
              <a:t> Waste: Waiting</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Spend that time thinking</a:t>
            </a:r>
            <a:endParaRPr/>
          </a:p>
          <a:p>
            <a:pPr indent="-171450" lvl="2" marL="1085850" rtl="0" algn="l">
              <a:spcBef>
                <a:spcPts val="0"/>
              </a:spcBef>
              <a:spcAft>
                <a:spcPts val="0"/>
              </a:spcAft>
              <a:buClr>
                <a:schemeClr val="dk1"/>
              </a:buClr>
              <a:buSzPts val="1200"/>
              <a:buFont typeface="Arial"/>
              <a:buChar char="•"/>
            </a:pPr>
            <a:r>
              <a:rPr lang="en-US"/>
              <a:t>Reorganize</a:t>
            </a:r>
            <a:endParaRPr/>
          </a:p>
          <a:p>
            <a:pPr indent="-171450" lvl="2" marL="1085850" rtl="0" algn="l">
              <a:spcBef>
                <a:spcPts val="0"/>
              </a:spcBef>
              <a:spcAft>
                <a:spcPts val="0"/>
              </a:spcAft>
              <a:buClr>
                <a:schemeClr val="dk1"/>
              </a:buClr>
              <a:buSzPts val="1200"/>
              <a:buFont typeface="Arial"/>
              <a:buChar char="•"/>
            </a:pPr>
            <a:r>
              <a:rPr lang="en-US"/>
              <a:t>Surge</a:t>
            </a:r>
            <a:endParaRPr/>
          </a:p>
          <a:p>
            <a:pPr indent="-171450" lvl="0" marL="171450" rtl="0" algn="l">
              <a:spcBef>
                <a:spcPts val="0"/>
              </a:spcBef>
              <a:spcAft>
                <a:spcPts val="0"/>
              </a:spcAft>
              <a:buClr>
                <a:schemeClr val="dk1"/>
              </a:buClr>
              <a:buSzPts val="1200"/>
              <a:buFont typeface="Arial"/>
              <a:buChar char="•"/>
            </a:pPr>
            <a:r>
              <a:rPr lang="en-US"/>
              <a:t>5</a:t>
            </a:r>
            <a:r>
              <a:rPr baseline="30000" lang="en-US"/>
              <a:t>th</a:t>
            </a:r>
            <a:r>
              <a:rPr lang="en-US"/>
              <a:t> Waste: Defects</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1" marL="628650" rtl="0" algn="l">
              <a:spcBef>
                <a:spcPts val="0"/>
              </a:spcBef>
              <a:spcAft>
                <a:spcPts val="0"/>
              </a:spcAft>
              <a:buClr>
                <a:schemeClr val="dk1"/>
              </a:buClr>
              <a:buSzPts val="1200"/>
              <a:buFont typeface="Arial"/>
              <a:buChar char="•"/>
            </a:pPr>
            <a:r>
              <a:rPr lang="en-US"/>
              <a:t>Solution</a:t>
            </a:r>
            <a:endParaRPr/>
          </a:p>
          <a:p>
            <a:pPr indent="-171450" lvl="2" marL="1085850" rtl="0" algn="l">
              <a:spcBef>
                <a:spcPts val="0"/>
              </a:spcBef>
              <a:spcAft>
                <a:spcPts val="0"/>
              </a:spcAft>
              <a:buClr>
                <a:schemeClr val="dk1"/>
              </a:buClr>
              <a:buSzPts val="1200"/>
              <a:buFont typeface="Arial"/>
              <a:buChar char="•"/>
            </a:pPr>
            <a:r>
              <a:rPr lang="en-US"/>
              <a:t>Use checklists</a:t>
            </a:r>
            <a:endParaRPr/>
          </a:p>
          <a:p>
            <a:pPr indent="-171450" lvl="0" marL="171450" rtl="0" algn="l">
              <a:spcBef>
                <a:spcPts val="0"/>
              </a:spcBef>
              <a:spcAft>
                <a:spcPts val="0"/>
              </a:spcAft>
              <a:buClr>
                <a:schemeClr val="dk1"/>
              </a:buClr>
              <a:buSzPts val="1200"/>
              <a:buFont typeface="Arial"/>
              <a:buChar char="•"/>
            </a:pPr>
            <a:r>
              <a:rPr lang="en-US"/>
              <a:t>6</a:t>
            </a:r>
            <a:r>
              <a:rPr baseline="30000" lang="en-US"/>
              <a:t>th</a:t>
            </a:r>
            <a:r>
              <a:rPr lang="en-US"/>
              <a:t> Waste: Overprocessing</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2" marL="1085850" rtl="0" algn="l">
              <a:spcBef>
                <a:spcPts val="0"/>
              </a:spcBef>
              <a:spcAft>
                <a:spcPts val="0"/>
              </a:spcAft>
              <a:buClr>
                <a:schemeClr val="dk1"/>
              </a:buClr>
              <a:buSzPts val="1200"/>
              <a:buFont typeface="Arial"/>
              <a:buChar char="•"/>
            </a:pPr>
            <a:r>
              <a:rPr lang="en-US"/>
              <a:t>Doing more than what the customer wants</a:t>
            </a:r>
            <a:endParaRPr/>
          </a:p>
          <a:p>
            <a:pPr indent="-171450" lvl="2" marL="1085850" rtl="0" algn="l">
              <a:spcBef>
                <a:spcPts val="0"/>
              </a:spcBef>
              <a:spcAft>
                <a:spcPts val="0"/>
              </a:spcAft>
              <a:buClr>
                <a:schemeClr val="dk1"/>
              </a:buClr>
              <a:buSzPts val="1200"/>
              <a:buFont typeface="Arial"/>
              <a:buChar char="•"/>
            </a:pPr>
            <a:r>
              <a:rPr lang="en-US"/>
              <a:t>Multi-tasking (maker vs manager schedule)</a:t>
            </a:r>
            <a:endParaRPr/>
          </a:p>
          <a:p>
            <a:pPr indent="-171450" lvl="1" marL="628650" rtl="0" algn="l">
              <a:spcBef>
                <a:spcPts val="0"/>
              </a:spcBef>
              <a:spcAft>
                <a:spcPts val="0"/>
              </a:spcAft>
              <a:buClr>
                <a:schemeClr val="dk1"/>
              </a:buClr>
              <a:buSzPts val="1200"/>
              <a:buFont typeface="Arial"/>
              <a:buChar char="•"/>
            </a:pPr>
            <a:r>
              <a:rPr lang="en-US"/>
              <a:t>Solution: </a:t>
            </a:r>
            <a:endParaRPr/>
          </a:p>
          <a:p>
            <a:pPr indent="-171450" lvl="0" marL="171450" rtl="0" algn="l">
              <a:spcBef>
                <a:spcPts val="0"/>
              </a:spcBef>
              <a:spcAft>
                <a:spcPts val="0"/>
              </a:spcAft>
              <a:buClr>
                <a:schemeClr val="dk1"/>
              </a:buClr>
              <a:buSzPts val="1200"/>
              <a:buFont typeface="Arial"/>
              <a:buChar char="•"/>
            </a:pPr>
            <a:r>
              <a:rPr lang="en-US"/>
              <a:t>7</a:t>
            </a:r>
            <a:r>
              <a:rPr baseline="30000" lang="en-US"/>
              <a:t>th</a:t>
            </a:r>
            <a:r>
              <a:rPr lang="en-US"/>
              <a:t> Waste: Overproduction</a:t>
            </a:r>
            <a:endParaRPr/>
          </a:p>
          <a:p>
            <a:pPr indent="-171450" lvl="1" marL="628650" rtl="0" algn="l">
              <a:spcBef>
                <a:spcPts val="0"/>
              </a:spcBef>
              <a:spcAft>
                <a:spcPts val="0"/>
              </a:spcAft>
              <a:buClr>
                <a:schemeClr val="dk1"/>
              </a:buClr>
              <a:buSzPts val="1200"/>
              <a:buFont typeface="Arial"/>
              <a:buChar char="•"/>
            </a:pPr>
            <a:r>
              <a:rPr lang="en-US"/>
              <a:t>Problem</a:t>
            </a:r>
            <a:endParaRPr/>
          </a:p>
          <a:p>
            <a:pPr indent="-171450" lvl="2" marL="1085850" rtl="0" algn="l">
              <a:spcBef>
                <a:spcPts val="0"/>
              </a:spcBef>
              <a:spcAft>
                <a:spcPts val="0"/>
              </a:spcAft>
              <a:buClr>
                <a:schemeClr val="dk1"/>
              </a:buClr>
              <a:buSzPts val="1200"/>
              <a:buFont typeface="Arial"/>
              <a:buChar char="•"/>
            </a:pPr>
            <a:r>
              <a:rPr lang="en-US"/>
              <a:t>Knowledge too early (it expires before it can be applied)</a:t>
            </a:r>
            <a:endParaRPr/>
          </a:p>
          <a:p>
            <a:pPr indent="-171450" lvl="1" marL="628650" rtl="0" algn="l">
              <a:spcBef>
                <a:spcPts val="0"/>
              </a:spcBef>
              <a:spcAft>
                <a:spcPts val="0"/>
              </a:spcAft>
              <a:buClr>
                <a:schemeClr val="dk1"/>
              </a:buClr>
              <a:buSzPts val="1200"/>
              <a:buFont typeface="Arial"/>
              <a:buChar char="•"/>
            </a:pPr>
            <a:r>
              <a:rPr lang="en-US"/>
              <a:t>Solution:</a:t>
            </a:r>
            <a:endParaRPr/>
          </a:p>
          <a:p>
            <a:pPr indent="-95250" lvl="1" marL="628650" rtl="0" algn="l">
              <a:spcBef>
                <a:spcPts val="0"/>
              </a:spcBef>
              <a:spcAft>
                <a:spcPts val="0"/>
              </a:spcAft>
              <a:buClr>
                <a:schemeClr val="dk1"/>
              </a:buClr>
              <a:buSzPts val="1200"/>
              <a:buFont typeface="Arial"/>
              <a:buNone/>
            </a:pPr>
            <a:r>
              <a:t/>
            </a:r>
            <a:endParaRPr/>
          </a:p>
          <a:p>
            <a:pPr indent="-95250" lvl="2" marL="1085850" rtl="0" algn="l">
              <a:spcBef>
                <a:spcPts val="0"/>
              </a:spcBef>
              <a:spcAft>
                <a:spcPts val="0"/>
              </a:spcAft>
              <a:buClr>
                <a:schemeClr val="dk1"/>
              </a:buClr>
              <a:buSzPts val="1200"/>
              <a:buFont typeface="Arial"/>
              <a:buNone/>
            </a:pPr>
            <a:r>
              <a:t/>
            </a:r>
            <a:endParaRPr/>
          </a:p>
        </p:txBody>
      </p:sp>
      <p:sp>
        <p:nvSpPr>
          <p:cNvPr id="271" name="Google Shape;2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Clr>
                <a:schemeClr val="dk1"/>
              </a:buClr>
              <a:buSzPts val="1200"/>
              <a:buFont typeface="Arial"/>
              <a:buNone/>
            </a:pPr>
            <a:r>
              <a:t/>
            </a:r>
            <a:endParaRPr/>
          </a:p>
        </p:txBody>
      </p:sp>
      <p:sp>
        <p:nvSpPr>
          <p:cNvPr id="278" name="Google Shape;27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p:txBody>
      </p:sp>
      <p:sp>
        <p:nvSpPr>
          <p:cNvPr id="301" name="Google Shape;3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313" name="Google Shape;3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336" name="Google Shape;3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346" name="Google Shape;34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352" name="Google Shape;35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375" name="Google Shape;3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400" name="Google Shape;40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423" name="Google Shape;42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446" name="Google Shape;44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469" name="Google Shape;46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492" name="Google Shape;49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2" marL="1085850" rtl="0" algn="l">
              <a:spcBef>
                <a:spcPts val="0"/>
              </a:spcBef>
              <a:spcAft>
                <a:spcPts val="0"/>
              </a:spcAft>
              <a:buClr>
                <a:schemeClr val="dk1"/>
              </a:buClr>
              <a:buSzPts val="1200"/>
              <a:buFont typeface="Arial"/>
              <a:buNone/>
            </a:pPr>
            <a:r>
              <a:t/>
            </a:r>
            <a:endParaRPr/>
          </a:p>
          <a:p>
            <a:pPr indent="-95250" lvl="1" marL="628650" rtl="0" algn="l">
              <a:spcBef>
                <a:spcPts val="0"/>
              </a:spcBef>
              <a:spcAft>
                <a:spcPts val="0"/>
              </a:spcAft>
              <a:buClr>
                <a:schemeClr val="dk1"/>
              </a:buClr>
              <a:buSzPts val="1200"/>
              <a:buFont typeface="Arial"/>
              <a:buNone/>
            </a:pPr>
            <a:r>
              <a:t/>
            </a:r>
            <a:endParaRPr/>
          </a:p>
        </p:txBody>
      </p:sp>
      <p:sp>
        <p:nvSpPr>
          <p:cNvPr id="506" name="Google Shape;50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Title Slide">
  <p:cSld name="40_Title Slide">
    <p:spTree>
      <p:nvGrpSpPr>
        <p:cNvPr id="15" name="Shape 15"/>
        <p:cNvGrpSpPr/>
        <p:nvPr/>
      </p:nvGrpSpPr>
      <p:grpSpPr>
        <a:xfrm>
          <a:off x="0" y="0"/>
          <a:ext cx="0" cy="0"/>
          <a:chOff x="0" y="0"/>
          <a:chExt cx="0" cy="0"/>
        </a:xfrm>
      </p:grpSpPr>
      <p:sp>
        <p:nvSpPr>
          <p:cNvPr id="16" name="Google Shape;16;p2"/>
          <p:cNvSpPr/>
          <p:nvPr/>
        </p:nvSpPr>
        <p:spPr>
          <a:xfrm>
            <a:off x="0" y="0"/>
            <a:ext cx="12192000" cy="6858000"/>
          </a:xfrm>
          <a:prstGeom prst="rect">
            <a:avLst/>
          </a:prstGeom>
          <a:solidFill>
            <a:schemeClr val="dk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Background pattern&#10;&#10;Description automatically generated" id="17" name="Google Shape;17;p2"/>
          <p:cNvPicPr preferRelativeResize="0"/>
          <p:nvPr/>
        </p:nvPicPr>
        <p:blipFill rotWithShape="1">
          <a:blip r:embed="rId2">
            <a:alphaModFix amt="5000"/>
          </a:blip>
          <a:srcRect b="0" l="0" r="0" t="0"/>
          <a:stretch/>
        </p:blipFill>
        <p:spPr>
          <a:xfrm>
            <a:off x="-115556" y="-483657"/>
            <a:ext cx="12423112" cy="7825313"/>
          </a:xfrm>
          <a:prstGeom prst="rect">
            <a:avLst/>
          </a:prstGeom>
          <a:noFill/>
          <a:ln>
            <a:noFill/>
          </a:ln>
        </p:spPr>
      </p:pic>
      <p:sp>
        <p:nvSpPr>
          <p:cNvPr id="18" name="Google Shape;18;p2"/>
          <p:cNvSpPr txBox="1"/>
          <p:nvPr>
            <p:ph type="title"/>
          </p:nvPr>
        </p:nvSpPr>
        <p:spPr>
          <a:xfrm>
            <a:off x="2435538" y="3680024"/>
            <a:ext cx="7320923" cy="107443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 name="Google Shape;19;p2"/>
          <p:cNvPicPr preferRelativeResize="0"/>
          <p:nvPr/>
        </p:nvPicPr>
        <p:blipFill rotWithShape="1">
          <a:blip r:embed="rId3">
            <a:alphaModFix/>
          </a:blip>
          <a:srcRect b="0" l="0" r="0" t="0"/>
          <a:stretch/>
        </p:blipFill>
        <p:spPr>
          <a:xfrm>
            <a:off x="4615445" y="770531"/>
            <a:ext cx="2961105" cy="2817167"/>
          </a:xfrm>
          <a:prstGeom prst="rect">
            <a:avLst/>
          </a:prstGeom>
          <a:noFill/>
          <a:ln>
            <a:noFill/>
          </a:ln>
        </p:spPr>
      </p:pic>
      <p:sp>
        <p:nvSpPr>
          <p:cNvPr id="20" name="Google Shape;20;p2"/>
          <p:cNvSpPr/>
          <p:nvPr/>
        </p:nvSpPr>
        <p:spPr>
          <a:xfrm flipH="1" rot="-5400000">
            <a:off x="6073139" y="2424835"/>
            <a:ext cx="45719" cy="4891178"/>
          </a:xfrm>
          <a:prstGeom prst="rect">
            <a:avLst/>
          </a:prstGeom>
          <a:solidFill>
            <a:srgbClr val="FFD52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Logo&#10;&#10;Description automatically generated" id="21" name="Google Shape;21;p2"/>
          <p:cNvPicPr preferRelativeResize="0"/>
          <p:nvPr/>
        </p:nvPicPr>
        <p:blipFill rotWithShape="1">
          <a:blip r:embed="rId4">
            <a:alphaModFix/>
          </a:blip>
          <a:srcRect b="0" l="0" r="0" t="0"/>
          <a:stretch/>
        </p:blipFill>
        <p:spPr>
          <a:xfrm>
            <a:off x="11389027" y="5982359"/>
            <a:ext cx="557144" cy="7188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Slide">
  <p:cSld name="22_Title Slide">
    <p:spTree>
      <p:nvGrpSpPr>
        <p:cNvPr id="22" name="Shape 22"/>
        <p:cNvGrpSpPr/>
        <p:nvPr/>
      </p:nvGrpSpPr>
      <p:grpSpPr>
        <a:xfrm>
          <a:off x="0" y="0"/>
          <a:ext cx="0" cy="0"/>
          <a:chOff x="0" y="0"/>
          <a:chExt cx="0" cy="0"/>
        </a:xfrm>
      </p:grpSpPr>
      <p:sp>
        <p:nvSpPr>
          <p:cNvPr id="23" name="Google Shape;23;p3"/>
          <p:cNvSpPr/>
          <p:nvPr/>
        </p:nvSpPr>
        <p:spPr>
          <a:xfrm>
            <a:off x="377372" y="310243"/>
            <a:ext cx="11437257" cy="6237514"/>
          </a:xfrm>
          <a:prstGeom prst="rect">
            <a:avLst/>
          </a:prstGeom>
          <a:no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ogo&#10;&#10;Description automatically generated" id="24" name="Google Shape;24;p3"/>
          <p:cNvPicPr preferRelativeResize="0"/>
          <p:nvPr/>
        </p:nvPicPr>
        <p:blipFill rotWithShape="1">
          <a:blip r:embed="rId2">
            <a:alphaModFix/>
          </a:blip>
          <a:srcRect b="0" l="0" r="0" t="0"/>
          <a:stretch/>
        </p:blipFill>
        <p:spPr>
          <a:xfrm>
            <a:off x="11529000" y="5982359"/>
            <a:ext cx="553255" cy="718886"/>
          </a:xfrm>
          <a:prstGeom prst="rect">
            <a:avLst/>
          </a:prstGeom>
          <a:noFill/>
          <a:ln>
            <a:noFill/>
          </a:ln>
        </p:spPr>
      </p:pic>
      <p:pic>
        <p:nvPicPr>
          <p:cNvPr id="25" name="Google Shape;25;p3"/>
          <p:cNvPicPr preferRelativeResize="0"/>
          <p:nvPr/>
        </p:nvPicPr>
        <p:blipFill rotWithShape="1">
          <a:blip r:embed="rId3">
            <a:alphaModFix/>
          </a:blip>
          <a:srcRect b="0" l="0" r="0" t="0"/>
          <a:stretch/>
        </p:blipFill>
        <p:spPr>
          <a:xfrm>
            <a:off x="85864" y="46953"/>
            <a:ext cx="755617" cy="71888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2" name="Google Shape;72;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
          <p:cNvSpPr/>
          <p:nvPr>
            <p:ph idx="2" type="pic"/>
          </p:nvPr>
        </p:nvSpPr>
        <p:spPr>
          <a:xfrm>
            <a:off x="5183188" y="987425"/>
            <a:ext cx="6172200" cy="4873625"/>
          </a:xfrm>
          <a:prstGeom prst="rect">
            <a:avLst/>
          </a:prstGeom>
          <a:noFill/>
          <a:ln>
            <a:noFill/>
          </a:ln>
        </p:spPr>
      </p:sp>
      <p:sp>
        <p:nvSpPr>
          <p:cNvPr id="79" name="Google Shape;79;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1.jpg"/><Relationship Id="rId7"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global.toyota/en/company/vision-and-philosophy/production-system/" TargetMode="External"/><Relationship Id="rId4" Type="http://schemas.openxmlformats.org/officeDocument/2006/relationships/hyperlink" Target="https://youtu.be/tfQiGDUBdD0?si=rPpgv_lnBAJB0LKt" TargetMode="External"/><Relationship Id="rId5" Type="http://schemas.openxmlformats.org/officeDocument/2006/relationships/hyperlink" Target="https://agilemanifesto.org/" TargetMode="External"/><Relationship Id="rId6" Type="http://schemas.openxmlformats.org/officeDocument/2006/relationships/hyperlink" Target="https://itrevolution.com/product/the-devops-handbook-second-editio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github.com/afc-ai2c/coding-kata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3647552" y="5021345"/>
            <a:ext cx="4893548" cy="543739"/>
          </a:xfrm>
          <a:prstGeom prst="rect">
            <a:avLst/>
          </a:prstGeom>
          <a:noFill/>
          <a:ln>
            <a:noFill/>
          </a:ln>
        </p:spPr>
        <p:txBody>
          <a:bodyPr anchorCtr="0" anchor="t" bIns="25400" lIns="25400" spcFirstLastPara="1" rIns="25400" wrap="square" tIns="25400">
            <a:spAutoFit/>
          </a:bodyPr>
          <a:lstStyle/>
          <a:p>
            <a:pPr indent="0" lvl="0" marL="0" marR="0" rtl="0" algn="ctr">
              <a:spcBef>
                <a:spcPts val="0"/>
              </a:spcBef>
              <a:spcAft>
                <a:spcPts val="0"/>
              </a:spcAft>
              <a:buClr>
                <a:srgbClr val="FFD52F"/>
              </a:buClr>
              <a:buSzPts val="3200"/>
              <a:buFont typeface="Arial"/>
              <a:buNone/>
            </a:pPr>
            <a:r>
              <a:rPr b="1" i="0" lang="en-US" sz="3200" u="none" cap="none" strike="noStrike">
                <a:solidFill>
                  <a:srgbClr val="FFD52F"/>
                </a:solidFill>
                <a:latin typeface="Arial"/>
                <a:ea typeface="Arial"/>
                <a:cs typeface="Arial"/>
                <a:sym typeface="Arial"/>
              </a:rPr>
              <a:t>DevSecOps</a:t>
            </a:r>
            <a:endParaRPr/>
          </a:p>
        </p:txBody>
      </p:sp>
      <p:sp>
        <p:nvSpPr>
          <p:cNvPr id="101" name="Google Shape;101;p15"/>
          <p:cNvSpPr txBox="1"/>
          <p:nvPr>
            <p:ph type="title"/>
          </p:nvPr>
        </p:nvSpPr>
        <p:spPr>
          <a:xfrm>
            <a:off x="2741259" y="3717890"/>
            <a:ext cx="6709482" cy="10349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Arial"/>
              <a:buNone/>
            </a:pPr>
            <a:r>
              <a:rPr b="1" lang="en-US">
                <a:solidFill>
                  <a:schemeClr val="lt1"/>
                </a:solidFill>
                <a:latin typeface="Arial"/>
                <a:ea typeface="Arial"/>
                <a:cs typeface="Arial"/>
                <a:sym typeface="Arial"/>
              </a:rPr>
              <a:t>ARTIFICIAL INTELLIGENCE INTEGRATION CENTER</a:t>
            </a:r>
            <a:endParaRPr/>
          </a:p>
        </p:txBody>
      </p:sp>
      <p:sp>
        <p:nvSpPr>
          <p:cNvPr id="102" name="Google Shape;102;p15"/>
          <p:cNvSpPr txBox="1"/>
          <p:nvPr/>
        </p:nvSpPr>
        <p:spPr>
          <a:xfrm>
            <a:off x="0" y="0"/>
            <a:ext cx="90334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Arial"/>
                <a:ea typeface="Arial"/>
                <a:cs typeface="Arial"/>
                <a:sym typeface="Arial"/>
              </a:rPr>
              <a:t>CW3 Vic Fernandez III</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Agenda</a:t>
            </a:r>
            <a:endParaRPr sz="4400">
              <a:solidFill>
                <a:schemeClr val="dk1"/>
              </a:solidFill>
              <a:latin typeface="Arial"/>
              <a:ea typeface="Arial"/>
              <a:cs typeface="Arial"/>
              <a:sym typeface="Arial"/>
            </a:endParaRPr>
          </a:p>
        </p:txBody>
      </p:sp>
      <p:sp>
        <p:nvSpPr>
          <p:cNvPr id="109" name="Google Shape;109;p16"/>
          <p:cNvSpPr txBox="1"/>
          <p:nvPr/>
        </p:nvSpPr>
        <p:spPr>
          <a:xfrm>
            <a:off x="838200" y="1577263"/>
            <a:ext cx="4506214"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0900</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Value Streams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Toyota Production System</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Lean</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Agile</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DevSecOps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Break</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1000</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Practical Exercise</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Break</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1100</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Quiz</a:t>
            </a:r>
            <a:endParaRPr/>
          </a:p>
        </p:txBody>
      </p:sp>
      <p:grpSp>
        <p:nvGrpSpPr>
          <p:cNvPr id="110" name="Google Shape;110;p16"/>
          <p:cNvGrpSpPr/>
          <p:nvPr/>
        </p:nvGrpSpPr>
        <p:grpSpPr>
          <a:xfrm>
            <a:off x="8389071" y="448397"/>
            <a:ext cx="3209844" cy="3622538"/>
            <a:chOff x="848152" y="22927"/>
            <a:chExt cx="3209844" cy="3622538"/>
          </a:xfrm>
        </p:grpSpPr>
        <p:sp>
          <p:nvSpPr>
            <p:cNvPr id="111" name="Google Shape;111;p16"/>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5" name="Google Shape;115;p16"/>
            <p:cNvSpPr/>
            <p:nvPr/>
          </p:nvSpPr>
          <p:spPr>
            <a:xfrm>
              <a:off x="2044966" y="1255507"/>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17" name="Google Shape;117;p16"/>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19" name="Google Shape;119;p16"/>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21" name="Google Shape;121;p16"/>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122" name="Google Shape;122;p16"/>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123" name="Google Shape;123;p16"/>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124" name="Google Shape;124;p16"/>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125" name="Google Shape;125;p16"/>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Value Streams</a:t>
            </a:r>
            <a:endParaRPr sz="4400">
              <a:solidFill>
                <a:schemeClr val="dk1"/>
              </a:solidFill>
              <a:latin typeface="Arial"/>
              <a:ea typeface="Arial"/>
              <a:cs typeface="Arial"/>
              <a:sym typeface="Arial"/>
            </a:endParaRPr>
          </a:p>
        </p:txBody>
      </p:sp>
      <p:sp>
        <p:nvSpPr>
          <p:cNvPr id="132" name="Google Shape;132;p17"/>
          <p:cNvSpPr txBox="1"/>
          <p:nvPr/>
        </p:nvSpPr>
        <p:spPr>
          <a:xfrm>
            <a:off x="838200" y="1577263"/>
            <a:ext cx="5257800" cy="378565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value stream is the process required to convert a business hypothesis into a service or feature for a customer.</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Examples</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Power, gas, and water utilities</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Internet access</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Laundry</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Food delivery</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3D printing</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Social media content </a:t>
            </a:r>
            <a:endParaRPr/>
          </a:p>
        </p:txBody>
      </p:sp>
      <p:grpSp>
        <p:nvGrpSpPr>
          <p:cNvPr id="133" name="Google Shape;133;p17"/>
          <p:cNvGrpSpPr/>
          <p:nvPr/>
        </p:nvGrpSpPr>
        <p:grpSpPr>
          <a:xfrm>
            <a:off x="8389071" y="448397"/>
            <a:ext cx="3209844" cy="3622538"/>
            <a:chOff x="848152" y="22927"/>
            <a:chExt cx="3209844" cy="3622538"/>
          </a:xfrm>
        </p:grpSpPr>
        <p:sp>
          <p:nvSpPr>
            <p:cNvPr id="134" name="Google Shape;134;p17"/>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38" name="Google Shape;138;p17"/>
            <p:cNvSpPr/>
            <p:nvPr/>
          </p:nvSpPr>
          <p:spPr>
            <a:xfrm>
              <a:off x="2044966" y="1255507"/>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40" name="Google Shape;140;p17"/>
            <p:cNvSpPr/>
            <p:nvPr/>
          </p:nvSpPr>
          <p:spPr>
            <a:xfrm>
              <a:off x="1306701" y="481476"/>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7"/>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42" name="Google Shape;142;p17"/>
            <p:cNvSpPr/>
            <p:nvPr/>
          </p:nvSpPr>
          <p:spPr>
            <a:xfrm>
              <a:off x="2361365" y="232025"/>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44" name="Google Shape;144;p17"/>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145" name="Google Shape;145;p17"/>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146" name="Google Shape;146;p17"/>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147" name="Google Shape;147;p17"/>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148" name="Google Shape;148;p17"/>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sp>
        <p:nvSpPr>
          <p:cNvPr id="155" name="Google Shape;155;p18"/>
          <p:cNvSpPr txBox="1"/>
          <p:nvPr/>
        </p:nvSpPr>
        <p:spPr>
          <a:xfrm>
            <a:off x="838200" y="1577263"/>
            <a:ext cx="5280476" cy="193899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production system based on the philosophy of achieving the complete elimination of waste in pursuit of the most efficient methods.</a:t>
            </a:r>
            <a:endParaRPr/>
          </a:p>
          <a:p>
            <a:pPr indent="-342900" lvl="0" marL="342900" marR="0" rtl="0" algn="l">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Making work easier for workers.</a:t>
            </a:r>
            <a:endParaRPr/>
          </a:p>
        </p:txBody>
      </p:sp>
      <p:grpSp>
        <p:nvGrpSpPr>
          <p:cNvPr id="156" name="Google Shape;156;p18"/>
          <p:cNvGrpSpPr/>
          <p:nvPr/>
        </p:nvGrpSpPr>
        <p:grpSpPr>
          <a:xfrm>
            <a:off x="8389071" y="448397"/>
            <a:ext cx="3209844" cy="3622538"/>
            <a:chOff x="848152" y="22927"/>
            <a:chExt cx="3209844" cy="3622538"/>
          </a:xfrm>
        </p:grpSpPr>
        <p:sp>
          <p:nvSpPr>
            <p:cNvPr id="157" name="Google Shape;157;p18"/>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61" name="Google Shape;161;p18"/>
            <p:cNvSpPr/>
            <p:nvPr/>
          </p:nvSpPr>
          <p:spPr>
            <a:xfrm>
              <a:off x="2044966" y="1255507"/>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8"/>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63" name="Google Shape;163;p18"/>
            <p:cNvSpPr/>
            <p:nvPr/>
          </p:nvSpPr>
          <p:spPr>
            <a:xfrm>
              <a:off x="1306701" y="481476"/>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65" name="Google Shape;165;p18"/>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8"/>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67" name="Google Shape;167;p18"/>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168" name="Google Shape;168;p18"/>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169" name="Google Shape;169;p18"/>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170" name="Google Shape;170;p18"/>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171" name="Google Shape;171;p18"/>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pic>
        <p:nvPicPr>
          <p:cNvPr id="172" name="Google Shape;172;p18"/>
          <p:cNvPicPr preferRelativeResize="0"/>
          <p:nvPr/>
        </p:nvPicPr>
        <p:blipFill rotWithShape="1">
          <a:blip r:embed="rId6">
            <a:alphaModFix/>
          </a:blip>
          <a:srcRect b="0" l="0" r="0" t="0"/>
          <a:stretch/>
        </p:blipFill>
        <p:spPr>
          <a:xfrm>
            <a:off x="1167174" y="3670551"/>
            <a:ext cx="1804013" cy="2561699"/>
          </a:xfrm>
          <a:prstGeom prst="rect">
            <a:avLst/>
          </a:prstGeom>
          <a:noFill/>
          <a:ln>
            <a:noFill/>
          </a:ln>
        </p:spPr>
      </p:pic>
      <p:pic>
        <p:nvPicPr>
          <p:cNvPr descr="Power loom | Science Museum Group Collection" id="173" name="Google Shape;173;p18"/>
          <p:cNvPicPr preferRelativeResize="0"/>
          <p:nvPr/>
        </p:nvPicPr>
        <p:blipFill rotWithShape="1">
          <a:blip r:embed="rId7">
            <a:alphaModFix/>
          </a:blip>
          <a:srcRect b="0" l="0" r="0" t="0"/>
          <a:stretch/>
        </p:blipFill>
        <p:spPr>
          <a:xfrm>
            <a:off x="3565132" y="3680924"/>
            <a:ext cx="2854631" cy="25513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sp>
        <p:nvSpPr>
          <p:cNvPr id="180" name="Google Shape;180;p19"/>
          <p:cNvSpPr txBox="1"/>
          <p:nvPr/>
        </p:nvSpPr>
        <p:spPr>
          <a:xfrm>
            <a:off x="838200" y="1577263"/>
            <a:ext cx="5280476"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Jidoka</a:t>
            </a:r>
            <a:endParaRPr b="1" sz="24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Automation with a human touch</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Just-In-Time</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Making only what is needed, when it is needed, and in the amount needed</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Fulfilling orders from customers as quickly as possible</a:t>
            </a:r>
            <a:endParaRPr/>
          </a:p>
        </p:txBody>
      </p:sp>
      <p:grpSp>
        <p:nvGrpSpPr>
          <p:cNvPr id="181" name="Google Shape;181;p19"/>
          <p:cNvGrpSpPr/>
          <p:nvPr/>
        </p:nvGrpSpPr>
        <p:grpSpPr>
          <a:xfrm>
            <a:off x="8389071" y="448397"/>
            <a:ext cx="3209844" cy="3622538"/>
            <a:chOff x="848152" y="22927"/>
            <a:chExt cx="3209844" cy="3622538"/>
          </a:xfrm>
        </p:grpSpPr>
        <p:sp>
          <p:nvSpPr>
            <p:cNvPr id="182" name="Google Shape;182;p19"/>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86" name="Google Shape;186;p19"/>
            <p:cNvSpPr/>
            <p:nvPr/>
          </p:nvSpPr>
          <p:spPr>
            <a:xfrm>
              <a:off x="2044966" y="1255507"/>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88" name="Google Shape;188;p19"/>
            <p:cNvSpPr/>
            <p:nvPr/>
          </p:nvSpPr>
          <p:spPr>
            <a:xfrm>
              <a:off x="1306701" y="481476"/>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90" name="Google Shape;190;p19"/>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92" name="Google Shape;192;p19"/>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193" name="Google Shape;193;p19"/>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194" name="Google Shape;194;p19"/>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195" name="Google Shape;195;p19"/>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196" name="Google Shape;196;p19"/>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grpSp>
        <p:nvGrpSpPr>
          <p:cNvPr id="203" name="Google Shape;203;p20"/>
          <p:cNvGrpSpPr/>
          <p:nvPr/>
        </p:nvGrpSpPr>
        <p:grpSpPr>
          <a:xfrm>
            <a:off x="8389071" y="448397"/>
            <a:ext cx="3209844" cy="3622538"/>
            <a:chOff x="848152" y="22927"/>
            <a:chExt cx="3209844" cy="3622538"/>
          </a:xfrm>
        </p:grpSpPr>
        <p:sp>
          <p:nvSpPr>
            <p:cNvPr id="204" name="Google Shape;204;p20"/>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0"/>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08" name="Google Shape;208;p20"/>
            <p:cNvSpPr/>
            <p:nvPr/>
          </p:nvSpPr>
          <p:spPr>
            <a:xfrm>
              <a:off x="2044966" y="1255507"/>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10" name="Google Shape;210;p20"/>
            <p:cNvSpPr/>
            <p:nvPr/>
          </p:nvSpPr>
          <p:spPr>
            <a:xfrm>
              <a:off x="1306701" y="481476"/>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12" name="Google Shape;212;p20"/>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14" name="Google Shape;214;p20"/>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215" name="Google Shape;215;p20"/>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216" name="Google Shape;216;p20"/>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217" name="Google Shape;217;p20"/>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218" name="Google Shape;218;p20"/>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pic>
        <p:nvPicPr>
          <p:cNvPr id="219" name="Google Shape;219;p20"/>
          <p:cNvPicPr preferRelativeResize="0"/>
          <p:nvPr/>
        </p:nvPicPr>
        <p:blipFill rotWithShape="1">
          <a:blip r:embed="rId6">
            <a:alphaModFix/>
          </a:blip>
          <a:srcRect b="0" l="0" r="0" t="0"/>
          <a:stretch/>
        </p:blipFill>
        <p:spPr>
          <a:xfrm>
            <a:off x="990149" y="1676992"/>
            <a:ext cx="5706271" cy="4401164"/>
          </a:xfrm>
          <a:prstGeom prst="rect">
            <a:avLst/>
          </a:prstGeom>
          <a:noFill/>
          <a:ln>
            <a:noFill/>
          </a:ln>
        </p:spPr>
      </p:pic>
      <p:pic>
        <p:nvPicPr>
          <p:cNvPr id="220" name="Google Shape;220;p20"/>
          <p:cNvPicPr preferRelativeResize="0"/>
          <p:nvPr/>
        </p:nvPicPr>
        <p:blipFill rotWithShape="1">
          <a:blip r:embed="rId7">
            <a:alphaModFix/>
          </a:blip>
          <a:srcRect b="0" l="0" r="0" t="0"/>
          <a:stretch/>
        </p:blipFill>
        <p:spPr>
          <a:xfrm>
            <a:off x="981688" y="1676992"/>
            <a:ext cx="5725324" cy="43821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grpSp>
        <p:nvGrpSpPr>
          <p:cNvPr id="227" name="Google Shape;227;p21"/>
          <p:cNvGrpSpPr/>
          <p:nvPr/>
        </p:nvGrpSpPr>
        <p:grpSpPr>
          <a:xfrm>
            <a:off x="8389071" y="448397"/>
            <a:ext cx="3209844" cy="3622538"/>
            <a:chOff x="848152" y="22927"/>
            <a:chExt cx="3209844" cy="3622538"/>
          </a:xfrm>
        </p:grpSpPr>
        <p:sp>
          <p:nvSpPr>
            <p:cNvPr id="228" name="Google Shape;228;p21"/>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1"/>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1"/>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1"/>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32" name="Google Shape;232;p21"/>
            <p:cNvSpPr/>
            <p:nvPr/>
          </p:nvSpPr>
          <p:spPr>
            <a:xfrm>
              <a:off x="2044966" y="1255507"/>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1"/>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34" name="Google Shape;234;p21"/>
            <p:cNvSpPr/>
            <p:nvPr/>
          </p:nvSpPr>
          <p:spPr>
            <a:xfrm>
              <a:off x="1306701" y="481476"/>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36" name="Google Shape;236;p21"/>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1"/>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38" name="Google Shape;238;p21"/>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239" name="Google Shape;239;p21"/>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240" name="Google Shape;240;p21"/>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241" name="Google Shape;241;p21"/>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242" name="Google Shape;242;p21"/>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pic>
        <p:nvPicPr>
          <p:cNvPr id="243" name="Google Shape;243;p21"/>
          <p:cNvPicPr preferRelativeResize="0"/>
          <p:nvPr/>
        </p:nvPicPr>
        <p:blipFill rotWithShape="1">
          <a:blip r:embed="rId6">
            <a:alphaModFix/>
          </a:blip>
          <a:srcRect b="0" l="0" r="0" t="0"/>
          <a:stretch/>
        </p:blipFill>
        <p:spPr>
          <a:xfrm>
            <a:off x="990149" y="1676992"/>
            <a:ext cx="5706271" cy="44011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2"/>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grpSp>
        <p:nvGrpSpPr>
          <p:cNvPr id="250" name="Google Shape;250;p22"/>
          <p:cNvGrpSpPr/>
          <p:nvPr/>
        </p:nvGrpSpPr>
        <p:grpSpPr>
          <a:xfrm>
            <a:off x="8389071" y="448397"/>
            <a:ext cx="3209844" cy="3622538"/>
            <a:chOff x="848152" y="22927"/>
            <a:chExt cx="3209844" cy="3622538"/>
          </a:xfrm>
        </p:grpSpPr>
        <p:sp>
          <p:nvSpPr>
            <p:cNvPr id="251" name="Google Shape;251;p22"/>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2"/>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2"/>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55" name="Google Shape;255;p22"/>
            <p:cNvSpPr/>
            <p:nvPr/>
          </p:nvSpPr>
          <p:spPr>
            <a:xfrm>
              <a:off x="2044966" y="1255507"/>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2"/>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57" name="Google Shape;257;p22"/>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2"/>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59" name="Google Shape;259;p22"/>
            <p:cNvSpPr/>
            <p:nvPr/>
          </p:nvSpPr>
          <p:spPr>
            <a:xfrm>
              <a:off x="2361365" y="232025"/>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61" name="Google Shape;261;p22"/>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262" name="Google Shape;262;p22"/>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263" name="Google Shape;263;p22"/>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264" name="Google Shape;264;p22"/>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265" name="Google Shape;265;p22"/>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pic>
        <p:nvPicPr>
          <p:cNvPr descr="Amazon.com: The Machine That Changed the World: The Story of Lean  Production- Toyota's Secret Weapon in the Global Car Wars That Is Now  Revolutionizing World Industry: 9780743299794: Womack, James P.: Books" id="266" name="Google Shape;266;p22"/>
          <p:cNvPicPr preferRelativeResize="0"/>
          <p:nvPr/>
        </p:nvPicPr>
        <p:blipFill rotWithShape="1">
          <a:blip r:embed="rId6">
            <a:alphaModFix/>
          </a:blip>
          <a:srcRect b="0" l="0" r="0" t="0"/>
          <a:stretch/>
        </p:blipFill>
        <p:spPr>
          <a:xfrm>
            <a:off x="3005531" y="2915767"/>
            <a:ext cx="1878595" cy="2859594"/>
          </a:xfrm>
          <a:prstGeom prst="rect">
            <a:avLst/>
          </a:prstGeom>
          <a:noFill/>
          <a:ln>
            <a:noFill/>
          </a:ln>
        </p:spPr>
      </p:pic>
      <p:sp>
        <p:nvSpPr>
          <p:cNvPr id="267" name="Google Shape;267;p22"/>
          <p:cNvSpPr txBox="1"/>
          <p:nvPr/>
        </p:nvSpPr>
        <p:spPr>
          <a:xfrm>
            <a:off x="838199" y="1577263"/>
            <a:ext cx="6805773" cy="83099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management philosophy focused on </a:t>
            </a:r>
            <a:r>
              <a:rPr lang="en-US" sz="2400">
                <a:solidFill>
                  <a:srgbClr val="FF0000"/>
                </a:solidFill>
                <a:latin typeface="Arial"/>
                <a:ea typeface="Arial"/>
                <a:cs typeface="Arial"/>
                <a:sym typeface="Arial"/>
              </a:rPr>
              <a:t>maximizing value for the customer</a:t>
            </a:r>
            <a:r>
              <a:rPr lang="en-US" sz="2400">
                <a:solidFill>
                  <a:schemeClr val="dk1"/>
                </a:solidFill>
                <a:latin typeface="Arial"/>
                <a:ea typeface="Arial"/>
                <a:cs typeface="Arial"/>
                <a:sym typeface="Arial"/>
              </a:rPr>
              <a:t> </a:t>
            </a:r>
            <a:r>
              <a:rPr lang="en-US" sz="2400">
                <a:solidFill>
                  <a:srgbClr val="FF0000"/>
                </a:solidFill>
                <a:latin typeface="Arial"/>
                <a:ea typeface="Arial"/>
                <a:cs typeface="Arial"/>
                <a:sym typeface="Arial"/>
              </a:rPr>
              <a:t>while minimizing waste.</a:t>
            </a:r>
            <a:endParaRPr sz="2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3"/>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pic>
        <p:nvPicPr>
          <p:cNvPr descr="The 8 Wastes of Lean" id="274" name="Google Shape;274;p23"/>
          <p:cNvPicPr preferRelativeResize="0"/>
          <p:nvPr/>
        </p:nvPicPr>
        <p:blipFill rotWithShape="1">
          <a:blip r:embed="rId3">
            <a:alphaModFix/>
          </a:blip>
          <a:srcRect b="0" l="0" r="0" t="2604"/>
          <a:stretch/>
        </p:blipFill>
        <p:spPr>
          <a:xfrm>
            <a:off x="1482675" y="1325563"/>
            <a:ext cx="9226650" cy="48880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grpSp>
        <p:nvGrpSpPr>
          <p:cNvPr id="281" name="Google Shape;281;p24"/>
          <p:cNvGrpSpPr/>
          <p:nvPr/>
        </p:nvGrpSpPr>
        <p:grpSpPr>
          <a:xfrm>
            <a:off x="8389071" y="448397"/>
            <a:ext cx="3209844" cy="3622538"/>
            <a:chOff x="848152" y="22927"/>
            <a:chExt cx="3209844" cy="3622538"/>
          </a:xfrm>
        </p:grpSpPr>
        <p:sp>
          <p:nvSpPr>
            <p:cNvPr id="282" name="Google Shape;282;p24"/>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4"/>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4"/>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4"/>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86" name="Google Shape;286;p24"/>
            <p:cNvSpPr/>
            <p:nvPr/>
          </p:nvSpPr>
          <p:spPr>
            <a:xfrm>
              <a:off x="2044966" y="1255507"/>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4"/>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88" name="Google Shape;288;p24"/>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4"/>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90" name="Google Shape;290;p24"/>
            <p:cNvSpPr/>
            <p:nvPr/>
          </p:nvSpPr>
          <p:spPr>
            <a:xfrm>
              <a:off x="2361365" y="232025"/>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4"/>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92" name="Google Shape;292;p24"/>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293" name="Google Shape;293;p24"/>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294" name="Google Shape;294;p24"/>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295" name="Google Shape;295;p24"/>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296" name="Google Shape;296;p24"/>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sp>
        <p:nvSpPr>
          <p:cNvPr id="297" name="Google Shape;297;p24"/>
          <p:cNvSpPr txBox="1"/>
          <p:nvPr/>
        </p:nvSpPr>
        <p:spPr>
          <a:xfrm>
            <a:off x="838200" y="1577263"/>
            <a:ext cx="5868812"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Define Value</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Focus on what solves the problem.</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Map the Value Stream</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Make work visible using a </a:t>
            </a:r>
            <a:r>
              <a:rPr i="1" lang="en-US" sz="2400">
                <a:solidFill>
                  <a:schemeClr val="dk1"/>
                </a:solidFill>
                <a:latin typeface="Arial"/>
                <a:ea typeface="Arial"/>
                <a:cs typeface="Arial"/>
                <a:sym typeface="Arial"/>
              </a:rPr>
              <a:t>Kanban</a:t>
            </a:r>
            <a:r>
              <a:rPr lang="en-US" sz="2400">
                <a:solidFill>
                  <a:schemeClr val="dk1"/>
                </a:solidFill>
                <a:latin typeface="Arial"/>
                <a:ea typeface="Arial"/>
                <a:cs typeface="Arial"/>
                <a:sym typeface="Arial"/>
              </a:rPr>
              <a:t> board.</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Create a Flow</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Keep batches of work small to avoid blockers.</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Establish Pull</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Only eat when you’re hungry.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pic>
        <p:nvPicPr>
          <p:cNvPr descr="The Zube Blog" id="304" name="Google Shape;304;p25"/>
          <p:cNvPicPr preferRelativeResize="0"/>
          <p:nvPr/>
        </p:nvPicPr>
        <p:blipFill rotWithShape="1">
          <a:blip r:embed="rId3">
            <a:alphaModFix/>
          </a:blip>
          <a:srcRect b="0" l="16772" r="2393" t="11535"/>
          <a:stretch/>
        </p:blipFill>
        <p:spPr>
          <a:xfrm>
            <a:off x="4326468" y="1325563"/>
            <a:ext cx="7263379" cy="4505278"/>
          </a:xfrm>
          <a:prstGeom prst="rect">
            <a:avLst/>
          </a:prstGeom>
          <a:noFill/>
          <a:ln cap="flat" cmpd="sng" w="28575">
            <a:solidFill>
              <a:schemeClr val="dk1"/>
            </a:solidFill>
            <a:prstDash val="solid"/>
            <a:round/>
            <a:headEnd len="sm" w="sm" type="none"/>
            <a:tailEnd len="sm" w="sm" type="none"/>
          </a:ln>
        </p:spPr>
      </p:pic>
      <p:sp>
        <p:nvSpPr>
          <p:cNvPr id="305" name="Google Shape;305;p25"/>
          <p:cNvSpPr txBox="1"/>
          <p:nvPr/>
        </p:nvSpPr>
        <p:spPr>
          <a:xfrm>
            <a:off x="838200" y="1577263"/>
            <a:ext cx="3225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How many pieces of work can our value stream handle before one of our work centers are overwhelmed?</a:t>
            </a:r>
            <a:endParaRPr/>
          </a:p>
        </p:txBody>
      </p:sp>
      <p:sp>
        <p:nvSpPr>
          <p:cNvPr id="306" name="Google Shape;306;p25"/>
          <p:cNvSpPr txBox="1"/>
          <p:nvPr/>
        </p:nvSpPr>
        <p:spPr>
          <a:xfrm>
            <a:off x="4827412" y="589581"/>
            <a:ext cx="929921" cy="461665"/>
          </a:xfrm>
          <a:prstGeom prst="rect">
            <a:avLst/>
          </a:prstGeom>
          <a:solidFill>
            <a:srgbClr val="00B05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5/10</a:t>
            </a:r>
            <a:endParaRPr/>
          </a:p>
        </p:txBody>
      </p:sp>
      <p:sp>
        <p:nvSpPr>
          <p:cNvPr id="307" name="Google Shape;307;p25"/>
          <p:cNvSpPr txBox="1"/>
          <p:nvPr/>
        </p:nvSpPr>
        <p:spPr>
          <a:xfrm>
            <a:off x="6604003" y="589580"/>
            <a:ext cx="929921" cy="461665"/>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8/10</a:t>
            </a:r>
            <a:endParaRPr/>
          </a:p>
        </p:txBody>
      </p:sp>
      <p:sp>
        <p:nvSpPr>
          <p:cNvPr id="308" name="Google Shape;308;p25"/>
          <p:cNvSpPr txBox="1"/>
          <p:nvPr/>
        </p:nvSpPr>
        <p:spPr>
          <a:xfrm>
            <a:off x="8380594" y="589579"/>
            <a:ext cx="929921" cy="461665"/>
          </a:xfrm>
          <a:prstGeom prst="rect">
            <a:avLst/>
          </a:prstGeom>
          <a:solidFill>
            <a:srgbClr val="FF0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3/2</a:t>
            </a:r>
            <a:endParaRPr/>
          </a:p>
        </p:txBody>
      </p:sp>
      <p:sp>
        <p:nvSpPr>
          <p:cNvPr id="309" name="Google Shape;309;p25"/>
          <p:cNvSpPr txBox="1"/>
          <p:nvPr/>
        </p:nvSpPr>
        <p:spPr>
          <a:xfrm>
            <a:off x="10188233" y="589578"/>
            <a:ext cx="929921" cy="461665"/>
          </a:xfrm>
          <a:prstGeom prst="rect">
            <a:avLst/>
          </a:prstGeom>
          <a:solidFill>
            <a:srgbClr val="00B05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5/10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6"/>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Agile</a:t>
            </a:r>
            <a:endParaRPr sz="4400">
              <a:solidFill>
                <a:schemeClr val="dk1"/>
              </a:solidFill>
              <a:latin typeface="Arial"/>
              <a:ea typeface="Arial"/>
              <a:cs typeface="Arial"/>
              <a:sym typeface="Arial"/>
            </a:endParaRPr>
          </a:p>
        </p:txBody>
      </p:sp>
      <p:grpSp>
        <p:nvGrpSpPr>
          <p:cNvPr id="316" name="Google Shape;316;p26"/>
          <p:cNvGrpSpPr/>
          <p:nvPr/>
        </p:nvGrpSpPr>
        <p:grpSpPr>
          <a:xfrm>
            <a:off x="8389071" y="448397"/>
            <a:ext cx="3209844" cy="3622538"/>
            <a:chOff x="848152" y="22927"/>
            <a:chExt cx="3209844" cy="3622538"/>
          </a:xfrm>
        </p:grpSpPr>
        <p:sp>
          <p:nvSpPr>
            <p:cNvPr id="317" name="Google Shape;317;p26"/>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6"/>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6"/>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6"/>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321" name="Google Shape;321;p26"/>
            <p:cNvSpPr/>
            <p:nvPr/>
          </p:nvSpPr>
          <p:spPr>
            <a:xfrm>
              <a:off x="2044966" y="1255507"/>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6"/>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323" name="Google Shape;323;p26"/>
            <p:cNvSpPr/>
            <p:nvPr/>
          </p:nvSpPr>
          <p:spPr>
            <a:xfrm>
              <a:off x="1306701" y="481476"/>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6"/>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325" name="Google Shape;325;p26"/>
            <p:cNvSpPr/>
            <p:nvPr/>
          </p:nvSpPr>
          <p:spPr>
            <a:xfrm>
              <a:off x="2361365" y="232025"/>
              <a:ext cx="1031735" cy="1031735"/>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6"/>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327" name="Google Shape;327;p26"/>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328" name="Google Shape;328;p26"/>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329" name="Google Shape;329;p26"/>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330" name="Google Shape;330;p26"/>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331" name="Google Shape;331;p26"/>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sp>
        <p:nvSpPr>
          <p:cNvPr id="332" name="Google Shape;332;p26"/>
          <p:cNvSpPr txBox="1"/>
          <p:nvPr/>
        </p:nvSpPr>
        <p:spPr>
          <a:xfrm>
            <a:off x="838200" y="1577263"/>
            <a:ext cx="6109308"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 software development methodology focused on </a:t>
            </a:r>
            <a:r>
              <a:rPr lang="en-US" sz="2400">
                <a:solidFill>
                  <a:srgbClr val="FF0000"/>
                </a:solidFill>
                <a:latin typeface="Arial"/>
                <a:ea typeface="Arial"/>
                <a:cs typeface="Arial"/>
                <a:sym typeface="Arial"/>
              </a:rPr>
              <a:t>delivering value to the customer rapidly.</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Individuals and interactions over processes and tools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Working software over comprehensive documentation</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Customer collaboration over contract negotiation</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Responding to change over following a plan</a:t>
            </a:r>
            <a:endParaRPr sz="32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7"/>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Agile</a:t>
            </a:r>
            <a:endParaRPr sz="4400">
              <a:solidFill>
                <a:schemeClr val="dk1"/>
              </a:solidFill>
              <a:latin typeface="Arial"/>
              <a:ea typeface="Arial"/>
              <a:cs typeface="Arial"/>
              <a:sym typeface="Arial"/>
            </a:endParaRPr>
          </a:p>
        </p:txBody>
      </p:sp>
      <p:pic>
        <p:nvPicPr>
          <p:cNvPr descr="Agile vs Waterfall Differences in Software Development Methodologies –  Yodiz Project Management Blog" id="339" name="Google Shape;339;p27"/>
          <p:cNvPicPr preferRelativeResize="0"/>
          <p:nvPr/>
        </p:nvPicPr>
        <p:blipFill rotWithShape="1">
          <a:blip r:embed="rId3">
            <a:alphaModFix/>
          </a:blip>
          <a:srcRect b="1380" l="2078" r="2262" t="58278"/>
          <a:stretch/>
        </p:blipFill>
        <p:spPr>
          <a:xfrm>
            <a:off x="634413" y="3628720"/>
            <a:ext cx="6107723" cy="2766646"/>
          </a:xfrm>
          <a:prstGeom prst="rect">
            <a:avLst/>
          </a:prstGeom>
          <a:noFill/>
          <a:ln>
            <a:noFill/>
          </a:ln>
        </p:spPr>
      </p:pic>
      <p:pic>
        <p:nvPicPr>
          <p:cNvPr descr="Agile vs Waterfall Differences in Software Development Methodologies –  Yodiz Project Management Blog" id="340" name="Google Shape;340;p27"/>
          <p:cNvPicPr preferRelativeResize="0"/>
          <p:nvPr/>
        </p:nvPicPr>
        <p:blipFill rotWithShape="1">
          <a:blip r:embed="rId3">
            <a:alphaModFix/>
          </a:blip>
          <a:srcRect b="52662" l="2078" r="2262" t="22392"/>
          <a:stretch/>
        </p:blipFill>
        <p:spPr>
          <a:xfrm>
            <a:off x="4227537" y="862074"/>
            <a:ext cx="7302109" cy="2045250"/>
          </a:xfrm>
          <a:prstGeom prst="rect">
            <a:avLst/>
          </a:prstGeom>
          <a:noFill/>
          <a:ln>
            <a:noFill/>
          </a:ln>
        </p:spPr>
      </p:pic>
      <p:sp>
        <p:nvSpPr>
          <p:cNvPr id="341" name="Google Shape;341;p27"/>
          <p:cNvSpPr txBox="1"/>
          <p:nvPr/>
        </p:nvSpPr>
        <p:spPr>
          <a:xfrm>
            <a:off x="2001714" y="3167055"/>
            <a:ext cx="30538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Waterfall Methodology </a:t>
            </a:r>
            <a:endParaRPr sz="3200">
              <a:solidFill>
                <a:schemeClr val="dk1"/>
              </a:solidFill>
              <a:latin typeface="Arial"/>
              <a:ea typeface="Arial"/>
              <a:cs typeface="Arial"/>
              <a:sym typeface="Arial"/>
            </a:endParaRPr>
          </a:p>
        </p:txBody>
      </p:sp>
      <p:sp>
        <p:nvSpPr>
          <p:cNvPr id="342" name="Google Shape;342;p27"/>
          <p:cNvSpPr txBox="1"/>
          <p:nvPr/>
        </p:nvSpPr>
        <p:spPr>
          <a:xfrm>
            <a:off x="6351660" y="400409"/>
            <a:ext cx="30538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Agile Methodology</a:t>
            </a:r>
            <a:endParaRPr sz="32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descr="Waterfall Vs #Agile Vs #AI Vs #VibeCoding #nrsharing | Naveed Ramzan" id="348" name="Google Shape;348;p28"/>
          <p:cNvPicPr preferRelativeResize="0"/>
          <p:nvPr/>
        </p:nvPicPr>
        <p:blipFill rotWithShape="1">
          <a:blip r:embed="rId3">
            <a:alphaModFix/>
          </a:blip>
          <a:srcRect b="0" l="1530" r="0" t="0"/>
          <a:stretch/>
        </p:blipFill>
        <p:spPr>
          <a:xfrm>
            <a:off x="3011793" y="378767"/>
            <a:ext cx="6168414" cy="6100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9"/>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DevSecOps</a:t>
            </a:r>
            <a:endParaRPr sz="4400">
              <a:solidFill>
                <a:schemeClr val="dk1"/>
              </a:solidFill>
              <a:latin typeface="Arial"/>
              <a:ea typeface="Arial"/>
              <a:cs typeface="Arial"/>
              <a:sym typeface="Arial"/>
            </a:endParaRPr>
          </a:p>
        </p:txBody>
      </p:sp>
      <p:sp>
        <p:nvSpPr>
          <p:cNvPr id="355" name="Google Shape;355;p29"/>
          <p:cNvSpPr txBox="1"/>
          <p:nvPr/>
        </p:nvSpPr>
        <p:spPr>
          <a:xfrm>
            <a:off x="838199" y="1577263"/>
            <a:ext cx="5690661"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DevSecOps is the result of applying principles from physical manufacturing and leadership domains to your software development value stream.</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342900" lvl="0" marL="342900" marR="0" rtl="0" algn="l">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Making work easier for the workers</a:t>
            </a:r>
            <a:endParaRPr/>
          </a:p>
          <a:p>
            <a:pPr indent="-342900" lvl="0" marL="342900" marR="0" rtl="0" algn="l">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Maximizing value while minimizing waste</a:t>
            </a:r>
            <a:endParaRPr/>
          </a:p>
          <a:p>
            <a:pPr indent="-342900" lvl="0" marL="342900" marR="0" rtl="0" algn="l">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Delivering value to the customer rapidly</a:t>
            </a:r>
            <a:endParaRPr/>
          </a:p>
        </p:txBody>
      </p:sp>
      <p:grpSp>
        <p:nvGrpSpPr>
          <p:cNvPr id="356" name="Google Shape;356;p29"/>
          <p:cNvGrpSpPr/>
          <p:nvPr/>
        </p:nvGrpSpPr>
        <p:grpSpPr>
          <a:xfrm>
            <a:off x="8389071" y="448397"/>
            <a:ext cx="3209844" cy="3622538"/>
            <a:chOff x="848152" y="22927"/>
            <a:chExt cx="3209844" cy="3622538"/>
          </a:xfrm>
        </p:grpSpPr>
        <p:sp>
          <p:nvSpPr>
            <p:cNvPr id="357" name="Google Shape;357;p29"/>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9"/>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9"/>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9"/>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361" name="Google Shape;361;p29"/>
            <p:cNvSpPr/>
            <p:nvPr/>
          </p:nvSpPr>
          <p:spPr>
            <a:xfrm>
              <a:off x="2044966" y="1255507"/>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9"/>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363" name="Google Shape;363;p29"/>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9"/>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365" name="Google Shape;365;p29"/>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9"/>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367" name="Google Shape;367;p29"/>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41,400+ Isometric People Computer Stock Photos, Pictures &amp; Royalty-Free  Images - iStock | Computer illustration" id="368" name="Google Shape;368;p29"/>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369" name="Google Shape;369;p29"/>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370" name="Google Shape;370;p29"/>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371" name="Google Shape;371;p29"/>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aphicFrame>
        <p:nvGraphicFramePr>
          <p:cNvPr id="377" name="Google Shape;377;p30"/>
          <p:cNvGraphicFramePr/>
          <p:nvPr/>
        </p:nvGraphicFramePr>
        <p:xfrm>
          <a:off x="958780" y="4980940"/>
          <a:ext cx="3000000" cy="3000000"/>
        </p:xfrm>
        <a:graphic>
          <a:graphicData uri="http://schemas.openxmlformats.org/drawingml/2006/table">
            <a:tbl>
              <a:tblPr bandRow="1" firstRow="1">
                <a:noFill/>
                <a:tableStyleId>{FC3A9F75-0D71-4C33-92E3-DF036C11306A}</a:tableStyleId>
              </a:tblPr>
              <a:tblGrid>
                <a:gridCol w="2960075"/>
                <a:gridCol w="4050325"/>
              </a:tblGrid>
              <a:tr h="370850">
                <a:tc>
                  <a:txBody>
                    <a:bodyPr/>
                    <a:lstStyle/>
                    <a:p>
                      <a:pPr indent="0" lvl="0" marL="0" marR="0" rtl="0" algn="ctr">
                        <a:lnSpc>
                          <a:spcPct val="100000"/>
                        </a:lnSpc>
                        <a:spcBef>
                          <a:spcPts val="0"/>
                        </a:spcBef>
                        <a:spcAft>
                          <a:spcPts val="0"/>
                        </a:spcAft>
                        <a:buClr>
                          <a:schemeClr val="dk1"/>
                        </a:buClr>
                        <a:buSzPts val="1800"/>
                        <a:buFont typeface="Arial"/>
                        <a:buNone/>
                      </a:pPr>
                      <a:r>
                        <a:rPr b="1" lang="en-US" sz="1800" u="none" cap="none" strike="noStrike">
                          <a:solidFill>
                            <a:schemeClr val="dk1"/>
                          </a:solidFill>
                          <a:latin typeface="Arial"/>
                          <a:ea typeface="Arial"/>
                          <a:cs typeface="Arial"/>
                          <a:sym typeface="Arial"/>
                        </a:rPr>
                        <a:t>The Third Way </a:t>
                      </a:r>
                      <a:endParaRPr/>
                    </a:p>
                    <a:p>
                      <a:pPr indent="0" lvl="0" marL="0" marR="0" rtl="0" algn="ctr">
                        <a:lnSpc>
                          <a:spcPct val="100000"/>
                        </a:lnSpc>
                        <a:spcBef>
                          <a:spcPts val="0"/>
                        </a:spcBef>
                        <a:spcAft>
                          <a:spcPts val="0"/>
                        </a:spcAft>
                        <a:buClr>
                          <a:schemeClr val="dk1"/>
                        </a:buClr>
                        <a:buSzPts val="1800"/>
                        <a:buFont typeface="Arial"/>
                        <a:buNone/>
                      </a:pPr>
                      <a:r>
                        <a:rPr b="0" i="1" lang="en-US" sz="1800" u="none" cap="none" strike="noStrike">
                          <a:solidFill>
                            <a:schemeClr val="dk1"/>
                          </a:solidFill>
                          <a:latin typeface="Arial"/>
                          <a:ea typeface="Arial"/>
                          <a:cs typeface="Arial"/>
                          <a:sym typeface="Arial"/>
                        </a:rPr>
                        <a:t>the principles of continuous learning and experimentation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lang="en-US" sz="1800" u="none" cap="none" strike="noStrike">
                          <a:solidFill>
                            <a:schemeClr val="dk1"/>
                          </a:solidFill>
                          <a:latin typeface="Arial"/>
                          <a:ea typeface="Arial"/>
                          <a:cs typeface="Arial"/>
                          <a:sym typeface="Arial"/>
                        </a:rPr>
                        <a:t>Promote a high-trust culture that supports a dynamic, disciplined, and scientific approach to experimentation to innovate faster.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bl>
          </a:graphicData>
        </a:graphic>
      </p:graphicFrame>
      <p:sp>
        <p:nvSpPr>
          <p:cNvPr id="378" name="Google Shape;378;p30"/>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DevSecOps</a:t>
            </a:r>
            <a:endParaRPr sz="4400">
              <a:solidFill>
                <a:schemeClr val="dk1"/>
              </a:solidFill>
              <a:latin typeface="Arial"/>
              <a:ea typeface="Arial"/>
              <a:cs typeface="Arial"/>
              <a:sym typeface="Arial"/>
            </a:endParaRPr>
          </a:p>
        </p:txBody>
      </p:sp>
      <p:graphicFrame>
        <p:nvGraphicFramePr>
          <p:cNvPr id="379" name="Google Shape;379;p30"/>
          <p:cNvGraphicFramePr/>
          <p:nvPr/>
        </p:nvGraphicFramePr>
        <p:xfrm>
          <a:off x="8485834" y="1417320"/>
          <a:ext cx="3000000" cy="3000000"/>
        </p:xfrm>
        <a:graphic>
          <a:graphicData uri="http://schemas.openxmlformats.org/drawingml/2006/table">
            <a:tbl>
              <a:tblPr bandRow="1" firstRow="1">
                <a:noFill/>
                <a:tableStyleId>{FC3A9F75-0D71-4C33-92E3-DF036C11306A}</a:tableStyleId>
              </a:tblPr>
              <a:tblGrid>
                <a:gridCol w="2586600"/>
              </a:tblGrid>
              <a:tr h="370850">
                <a:tc>
                  <a:txBody>
                    <a:bodyPr/>
                    <a:lstStyle/>
                    <a:p>
                      <a:pPr indent="0" lvl="0" marL="0" marR="0" rtl="0" algn="l">
                        <a:lnSpc>
                          <a:spcPct val="100000"/>
                        </a:lnSpc>
                        <a:spcBef>
                          <a:spcPts val="0"/>
                        </a:spcBef>
                        <a:spcAft>
                          <a:spcPts val="0"/>
                        </a:spcAft>
                        <a:buClr>
                          <a:schemeClr val="dk1"/>
                        </a:buClr>
                        <a:buSzPts val="1800"/>
                        <a:buFont typeface="Arial"/>
                        <a:buNone/>
                      </a:pPr>
                      <a:r>
                        <a:rPr b="0" lang="en-US" sz="1800" u="none" cap="none" strike="noStrike">
                          <a:solidFill>
                            <a:schemeClr val="dk1"/>
                          </a:solidFill>
                          <a:latin typeface="Arial"/>
                          <a:ea typeface="Arial"/>
                          <a:cs typeface="Arial"/>
                          <a:sym typeface="Arial"/>
                        </a:rPr>
                        <a:t>Continuous Test</a:t>
                      </a:r>
                      <a:endParaRPr/>
                    </a:p>
                    <a:p>
                      <a:pPr indent="0" lvl="0" marL="0" marR="0" rtl="0" algn="l">
                        <a:spcBef>
                          <a:spcPts val="0"/>
                        </a:spcBef>
                        <a:spcAft>
                          <a:spcPts val="0"/>
                        </a:spcAft>
                        <a:buNone/>
                      </a:pPr>
                      <a:r>
                        <a:rPr b="0" lang="en-US" sz="1800" u="none" cap="none" strike="noStrike">
                          <a:solidFill>
                            <a:schemeClr val="dk1"/>
                          </a:solidFill>
                          <a:latin typeface="Arial"/>
                          <a:ea typeface="Arial"/>
                          <a:cs typeface="Arial"/>
                          <a:sym typeface="Arial"/>
                        </a:rPr>
                        <a:t>Continuous Build</a:t>
                      </a:r>
                      <a:endParaRPr/>
                    </a:p>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Continuous Integration</a:t>
                      </a:r>
                      <a:endParaRPr/>
                    </a:p>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Continuous Delivery</a:t>
                      </a:r>
                      <a:endParaRPr/>
                    </a:p>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Continuous Deployment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80" name="Google Shape;380;p30"/>
          <p:cNvGraphicFramePr/>
          <p:nvPr/>
        </p:nvGraphicFramePr>
        <p:xfrm>
          <a:off x="958780" y="2993390"/>
          <a:ext cx="3000000" cy="3000000"/>
        </p:xfrm>
        <a:graphic>
          <a:graphicData uri="http://schemas.openxmlformats.org/drawingml/2006/table">
            <a:tbl>
              <a:tblPr bandRow="1" firstRow="1">
                <a:noFill/>
                <a:tableStyleId>{FC3A9F75-0D71-4C33-92E3-DF036C11306A}</a:tableStyleId>
              </a:tblPr>
              <a:tblGrid>
                <a:gridCol w="2960075"/>
                <a:gridCol w="4050325"/>
              </a:tblGrid>
              <a:tr h="370850">
                <a:tc>
                  <a:txBody>
                    <a:bodyPr/>
                    <a:lstStyle/>
                    <a:p>
                      <a:pPr indent="0" lvl="0" marL="0" marR="0" rtl="0" algn="ctr">
                        <a:lnSpc>
                          <a:spcPct val="100000"/>
                        </a:lnSpc>
                        <a:spcBef>
                          <a:spcPts val="0"/>
                        </a:spcBef>
                        <a:spcAft>
                          <a:spcPts val="0"/>
                        </a:spcAft>
                        <a:buClr>
                          <a:schemeClr val="dk1"/>
                        </a:buClr>
                        <a:buSzPts val="1800"/>
                        <a:buFont typeface="Arial"/>
                        <a:buNone/>
                      </a:pPr>
                      <a:r>
                        <a:rPr b="1" lang="en-US" sz="1800">
                          <a:solidFill>
                            <a:schemeClr val="dk1"/>
                          </a:solidFill>
                          <a:latin typeface="Arial"/>
                          <a:ea typeface="Arial"/>
                          <a:cs typeface="Arial"/>
                          <a:sym typeface="Arial"/>
                        </a:rPr>
                        <a:t>The Second Way</a:t>
                      </a:r>
                      <a:endParaRPr/>
                    </a:p>
                    <a:p>
                      <a:pPr indent="0" lvl="0" marL="0" marR="0" rtl="0" algn="ctr">
                        <a:lnSpc>
                          <a:spcPct val="100000"/>
                        </a:lnSpc>
                        <a:spcBef>
                          <a:spcPts val="0"/>
                        </a:spcBef>
                        <a:spcAft>
                          <a:spcPts val="0"/>
                        </a:spcAft>
                        <a:buClr>
                          <a:schemeClr val="dk1"/>
                        </a:buClr>
                        <a:buSzPts val="1800"/>
                        <a:buFont typeface="Arial"/>
                        <a:buNone/>
                      </a:pPr>
                      <a:r>
                        <a:rPr b="0" i="1" lang="en-US" sz="1800">
                          <a:solidFill>
                            <a:schemeClr val="dk1"/>
                          </a:solidFill>
                          <a:latin typeface="Arial"/>
                          <a:ea typeface="Arial"/>
                          <a:cs typeface="Arial"/>
                          <a:sym typeface="Arial"/>
                        </a:rPr>
                        <a:t>the principles of feedback</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Shorten the feedback loop between you and your deployment environment to reduce the time detect/recover of problems. </a:t>
                      </a:r>
                      <a:endParaRPr/>
                    </a:p>
                    <a:p>
                      <a:pPr indent="0" lvl="0" marL="0" marR="0" rtl="0" algn="l">
                        <a:lnSpc>
                          <a:spcPct val="10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Amplify feedback as it’s received.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bl>
          </a:graphicData>
        </a:graphic>
      </p:graphicFrame>
      <p:graphicFrame>
        <p:nvGraphicFramePr>
          <p:cNvPr id="381" name="Google Shape;381;p30"/>
          <p:cNvGraphicFramePr/>
          <p:nvPr/>
        </p:nvGraphicFramePr>
        <p:xfrm>
          <a:off x="958780" y="1554480"/>
          <a:ext cx="3000000" cy="3000000"/>
        </p:xfrm>
        <a:graphic>
          <a:graphicData uri="http://schemas.openxmlformats.org/drawingml/2006/table">
            <a:tbl>
              <a:tblPr bandRow="1" firstRow="1">
                <a:noFill/>
                <a:tableStyleId>{FC3A9F75-0D71-4C33-92E3-DF036C11306A}</a:tableStyleId>
              </a:tblPr>
              <a:tblGrid>
                <a:gridCol w="2960075"/>
                <a:gridCol w="4050325"/>
              </a:tblGrid>
              <a:tr h="370850">
                <a:tc>
                  <a:txBody>
                    <a:bodyPr/>
                    <a:lstStyle/>
                    <a:p>
                      <a:pPr indent="0" lvl="0" marL="0" marR="0" rtl="0" algn="ctr">
                        <a:lnSpc>
                          <a:spcPct val="100000"/>
                        </a:lnSpc>
                        <a:spcBef>
                          <a:spcPts val="0"/>
                        </a:spcBef>
                        <a:spcAft>
                          <a:spcPts val="0"/>
                        </a:spcAft>
                        <a:buClr>
                          <a:schemeClr val="dk1"/>
                        </a:buClr>
                        <a:buSzPts val="1800"/>
                        <a:buFont typeface="Arial"/>
                        <a:buNone/>
                      </a:pPr>
                      <a:r>
                        <a:rPr b="1" lang="en-US" sz="1800">
                          <a:solidFill>
                            <a:schemeClr val="dk1"/>
                          </a:solidFill>
                          <a:latin typeface="Arial"/>
                          <a:ea typeface="Arial"/>
                          <a:cs typeface="Arial"/>
                          <a:sym typeface="Arial"/>
                        </a:rPr>
                        <a:t>The First Way</a:t>
                      </a:r>
                      <a:endParaRPr/>
                    </a:p>
                    <a:p>
                      <a:pPr indent="0" lvl="0" marL="0" marR="0" rtl="0" algn="ctr">
                        <a:lnSpc>
                          <a:spcPct val="100000"/>
                        </a:lnSpc>
                        <a:spcBef>
                          <a:spcPts val="0"/>
                        </a:spcBef>
                        <a:spcAft>
                          <a:spcPts val="0"/>
                        </a:spcAft>
                        <a:buClr>
                          <a:schemeClr val="dk1"/>
                        </a:buClr>
                        <a:buSzPts val="1800"/>
                        <a:buFont typeface="Arial"/>
                        <a:buNone/>
                      </a:pPr>
                      <a:r>
                        <a:rPr b="0" i="1" lang="en-US" sz="1800">
                          <a:solidFill>
                            <a:schemeClr val="dk1"/>
                          </a:solidFill>
                          <a:latin typeface="Arial"/>
                          <a:ea typeface="Arial"/>
                          <a:cs typeface="Arial"/>
                          <a:sym typeface="Arial"/>
                        </a:rPr>
                        <a:t>the principles of flow</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Keep your batches of work small, visible, and based on global goals for faster processing, shorter wait times, and more innovation.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bl>
          </a:graphicData>
        </a:graphic>
      </p:graphicFrame>
      <p:graphicFrame>
        <p:nvGraphicFramePr>
          <p:cNvPr id="382" name="Google Shape;382;p30"/>
          <p:cNvGraphicFramePr/>
          <p:nvPr/>
        </p:nvGraphicFramePr>
        <p:xfrm>
          <a:off x="8485834" y="3676650"/>
          <a:ext cx="3000000" cy="3000000"/>
        </p:xfrm>
        <a:graphic>
          <a:graphicData uri="http://schemas.openxmlformats.org/drawingml/2006/table">
            <a:tbl>
              <a:tblPr bandRow="1" firstRow="1">
                <a:noFill/>
                <a:tableStyleId>{FC3A9F75-0D71-4C33-92E3-DF036C11306A}</a:tableStyleId>
              </a:tblPr>
              <a:tblGrid>
                <a:gridCol w="2586600"/>
              </a:tblGrid>
              <a:tr h="370850">
                <a:tc>
                  <a:txBody>
                    <a:bodyPr/>
                    <a:lstStyle/>
                    <a:p>
                      <a:pPr indent="0" lvl="0" marL="0" marR="0" rtl="0" algn="l">
                        <a:spcBef>
                          <a:spcPts val="0"/>
                        </a:spcBef>
                        <a:spcAft>
                          <a:spcPts val="0"/>
                        </a:spcAft>
                        <a:buNone/>
                      </a:pPr>
                      <a:r>
                        <a:rPr b="0" lang="en-US" sz="1800">
                          <a:solidFill>
                            <a:schemeClr val="dk1"/>
                          </a:solidFill>
                          <a:latin typeface="Arial"/>
                          <a:ea typeface="Arial"/>
                          <a:cs typeface="Arial"/>
                          <a:sym typeface="Arial"/>
                        </a:rPr>
                        <a:t>Continuous Monitoring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83" name="Google Shape;383;p30"/>
          <p:cNvGraphicFramePr/>
          <p:nvPr/>
        </p:nvGraphicFramePr>
        <p:xfrm>
          <a:off x="8485834" y="5389880"/>
          <a:ext cx="3000000" cy="3000000"/>
        </p:xfrm>
        <a:graphic>
          <a:graphicData uri="http://schemas.openxmlformats.org/drawingml/2006/table">
            <a:tbl>
              <a:tblPr bandRow="1" firstRow="1">
                <a:noFill/>
                <a:tableStyleId>{FC3A9F75-0D71-4C33-92E3-DF036C11306A}</a:tableStyleId>
              </a:tblPr>
              <a:tblGrid>
                <a:gridCol w="2586600"/>
              </a:tblGrid>
              <a:tr h="370850">
                <a:tc>
                  <a:txBody>
                    <a:bodyPr/>
                    <a:lstStyle/>
                    <a:p>
                      <a:pPr indent="0" lvl="0" marL="0" marR="0" rtl="0" algn="l">
                        <a:lnSpc>
                          <a:spcPct val="10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Continuous Improvement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1"/>
          <p:cNvSpPr txBox="1"/>
          <p:nvPr/>
        </p:nvSpPr>
        <p:spPr>
          <a:xfrm>
            <a:off x="838200" y="1931436"/>
            <a:ext cx="105156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Toyota Production System</a:t>
            </a:r>
            <a:endParaRPr/>
          </a:p>
          <a:p>
            <a:pPr indent="0" lvl="0" marL="0" marR="0" rtl="0" algn="l">
              <a:spcBef>
                <a:spcPts val="0"/>
              </a:spcBef>
              <a:spcAft>
                <a:spcPts val="0"/>
              </a:spcAft>
              <a:buNone/>
            </a:pPr>
            <a:r>
              <a:rPr lang="en-US" sz="1800" u="sng">
                <a:solidFill>
                  <a:schemeClr val="hlink"/>
                </a:solidFill>
                <a:latin typeface="Arial"/>
                <a:ea typeface="Arial"/>
                <a:cs typeface="Arial"/>
                <a:sym typeface="Arial"/>
                <a:hlinkClick r:id="rId3"/>
              </a:rPr>
              <a:t>https://global.toyota/en/company/vision-and-philosophy/production-system/</a:t>
            </a: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“Lean Applied to Us” by Bill Peterson at TEDxKnoxville</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lang="en-US" sz="1800" u="sng">
                <a:solidFill>
                  <a:schemeClr val="hlink"/>
                </a:solidFill>
                <a:latin typeface="Arial"/>
                <a:ea typeface="Arial"/>
                <a:cs typeface="Arial"/>
                <a:sym typeface="Arial"/>
                <a:hlinkClick r:id="rId4"/>
              </a:rPr>
              <a:t>https://youtu.be/tfQiGDUBdD0?si=rPpgv_lnBAJB0LKt</a:t>
            </a: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Agile Manifesto</a:t>
            </a:r>
            <a:endParaRPr/>
          </a:p>
          <a:p>
            <a:pPr indent="0" lvl="0" marL="0" marR="0" rtl="0" algn="l">
              <a:spcBef>
                <a:spcPts val="0"/>
              </a:spcBef>
              <a:spcAft>
                <a:spcPts val="0"/>
              </a:spcAft>
              <a:buNone/>
            </a:pPr>
            <a:r>
              <a:rPr lang="en-US" sz="1800" u="sng">
                <a:solidFill>
                  <a:schemeClr val="hlink"/>
                </a:solidFill>
                <a:latin typeface="Arial"/>
                <a:ea typeface="Arial"/>
                <a:cs typeface="Arial"/>
                <a:sym typeface="Arial"/>
                <a:hlinkClick r:id="rId5"/>
              </a:rPr>
              <a:t>https://agilemanifesto.org/</a:t>
            </a: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DevOps Handbook</a:t>
            </a:r>
            <a:endParaRPr/>
          </a:p>
          <a:p>
            <a:pPr indent="0" lvl="0" marL="0" marR="0" rtl="0" algn="l">
              <a:spcBef>
                <a:spcPts val="0"/>
              </a:spcBef>
              <a:spcAft>
                <a:spcPts val="0"/>
              </a:spcAft>
              <a:buNone/>
            </a:pPr>
            <a:r>
              <a:rPr lang="en-US" sz="1800" u="sng">
                <a:solidFill>
                  <a:schemeClr val="hlink"/>
                </a:solidFill>
                <a:latin typeface="Arial"/>
                <a:ea typeface="Arial"/>
                <a:cs typeface="Arial"/>
                <a:sym typeface="Arial"/>
                <a:hlinkClick r:id="rId6"/>
              </a:rPr>
              <a:t>https://itrevolution.com/product/the-devops-handbook-second-edition/</a:t>
            </a:r>
            <a:r>
              <a:rPr lang="en-US" sz="1800">
                <a:solidFill>
                  <a:schemeClr val="dk1"/>
                </a:solidFill>
                <a:latin typeface="Arial"/>
                <a:ea typeface="Arial"/>
                <a:cs typeface="Arial"/>
                <a:sym typeface="Arial"/>
              </a:rPr>
              <a:t> </a:t>
            </a:r>
            <a:endParaRPr/>
          </a:p>
        </p:txBody>
      </p:sp>
      <p:sp>
        <p:nvSpPr>
          <p:cNvPr id="389" name="Google Shape;389;p31"/>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References</a:t>
            </a:r>
            <a:endParaRPr sz="44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2"/>
          <p:cNvSpPr txBox="1"/>
          <p:nvPr/>
        </p:nvSpPr>
        <p:spPr>
          <a:xfrm>
            <a:off x="3647552" y="5021345"/>
            <a:ext cx="4893548" cy="543739"/>
          </a:xfrm>
          <a:prstGeom prst="rect">
            <a:avLst/>
          </a:prstGeom>
          <a:noFill/>
          <a:ln>
            <a:noFill/>
          </a:ln>
        </p:spPr>
        <p:txBody>
          <a:bodyPr anchorCtr="0" anchor="t" bIns="25400" lIns="25400" spcFirstLastPara="1" rIns="25400" wrap="square" tIns="25400">
            <a:spAutoFit/>
          </a:bodyPr>
          <a:lstStyle/>
          <a:p>
            <a:pPr indent="0" lvl="0" marL="0" marR="0" rtl="0" algn="ctr">
              <a:spcBef>
                <a:spcPts val="0"/>
              </a:spcBef>
              <a:spcAft>
                <a:spcPts val="0"/>
              </a:spcAft>
              <a:buClr>
                <a:srgbClr val="FFD52F"/>
              </a:buClr>
              <a:buSzPts val="3200"/>
              <a:buFont typeface="Arial"/>
              <a:buNone/>
            </a:pPr>
            <a:r>
              <a:rPr b="1" lang="en-US" sz="3200">
                <a:solidFill>
                  <a:srgbClr val="FFD52F"/>
                </a:solidFill>
                <a:latin typeface="Arial"/>
                <a:ea typeface="Arial"/>
                <a:cs typeface="Arial"/>
                <a:sym typeface="Arial"/>
              </a:rPr>
              <a:t>Break</a:t>
            </a:r>
            <a:endParaRPr/>
          </a:p>
        </p:txBody>
      </p:sp>
      <p:sp>
        <p:nvSpPr>
          <p:cNvPr id="395" name="Google Shape;395;p32"/>
          <p:cNvSpPr txBox="1"/>
          <p:nvPr>
            <p:ph type="title"/>
          </p:nvPr>
        </p:nvSpPr>
        <p:spPr>
          <a:xfrm>
            <a:off x="2741259" y="3717890"/>
            <a:ext cx="6709482" cy="10349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Arial"/>
              <a:buNone/>
            </a:pPr>
            <a:r>
              <a:rPr b="1" lang="en-US">
                <a:solidFill>
                  <a:schemeClr val="lt1"/>
                </a:solidFill>
                <a:latin typeface="Arial"/>
                <a:ea typeface="Arial"/>
                <a:cs typeface="Arial"/>
                <a:sym typeface="Arial"/>
              </a:rPr>
              <a:t>ARTIFICIAL INTELLIGENCE INTEGRATION CENTER</a:t>
            </a:r>
            <a:endParaRPr/>
          </a:p>
        </p:txBody>
      </p:sp>
      <p:sp>
        <p:nvSpPr>
          <p:cNvPr id="396" name="Google Shape;396;p32"/>
          <p:cNvSpPr txBox="1"/>
          <p:nvPr/>
        </p:nvSpPr>
        <p:spPr>
          <a:xfrm>
            <a:off x="0" y="0"/>
            <a:ext cx="90334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Arial"/>
                <a:ea typeface="Arial"/>
                <a:cs typeface="Arial"/>
                <a:sym typeface="Arial"/>
              </a:rPr>
              <a:t>CW3 Vic Fernandez III</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3"/>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03" name="Google Shape;403;p33"/>
          <p:cNvSpPr txBox="1"/>
          <p:nvPr/>
        </p:nvSpPr>
        <p:spPr>
          <a:xfrm>
            <a:off x="838200" y="1396639"/>
            <a:ext cx="6556022"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Setup</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Break up into teams (e.g., by table).</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Your Team Lead will be anyone who meets two of the following requirements: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Contributed to an open-source project</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Believes in aliens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Likes early 2000s post-hardcore music</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Loves (not like) pizza</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Ensure the Team Lead creates a code repository in GitHub and shares access with everyone on the team. </a:t>
            </a:r>
            <a:endParaRPr/>
          </a:p>
        </p:txBody>
      </p:sp>
      <p:pic>
        <p:nvPicPr>
          <p:cNvPr descr="41,400+ Isometric People Computer Stock Photos, Pictures &amp; Royalty-Free  Images - iStock | Computer illustration" id="404" name="Google Shape;404;p33"/>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405" name="Google Shape;405;p33"/>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406" name="Google Shape;406;p33"/>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407" name="Google Shape;407;p33"/>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grpSp>
        <p:nvGrpSpPr>
          <p:cNvPr id="408" name="Google Shape;408;p33"/>
          <p:cNvGrpSpPr/>
          <p:nvPr/>
        </p:nvGrpSpPr>
        <p:grpSpPr>
          <a:xfrm>
            <a:off x="8389071" y="448397"/>
            <a:ext cx="3209844" cy="3622538"/>
            <a:chOff x="848152" y="22927"/>
            <a:chExt cx="3209844" cy="3622538"/>
          </a:xfrm>
        </p:grpSpPr>
        <p:sp>
          <p:nvSpPr>
            <p:cNvPr id="409" name="Google Shape;409;p33"/>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3"/>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3"/>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413" name="Google Shape;413;p33"/>
            <p:cNvSpPr/>
            <p:nvPr/>
          </p:nvSpPr>
          <p:spPr>
            <a:xfrm>
              <a:off x="2044966" y="1255507"/>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3"/>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415" name="Google Shape;415;p33"/>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3"/>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417" name="Google Shape;417;p33"/>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3"/>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419" name="Google Shape;419;p33"/>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4"/>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26" name="Google Shape;426;p34"/>
          <p:cNvSpPr txBox="1"/>
          <p:nvPr/>
        </p:nvSpPr>
        <p:spPr>
          <a:xfrm>
            <a:off x="838200" y="1577263"/>
            <a:ext cx="569066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Scenario</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Your team has been tasked to create an app that boosts morale. The customer has not identified where they want the app to be deployed yet, but your Portfolio Lead wants you to ensure the app is ready when they do. To meet your Portfolio Lead’s intent, your app must be containerized and tested. It must also be reviewed and approved by your Team Lead.</a:t>
            </a:r>
            <a:endParaRPr/>
          </a:p>
        </p:txBody>
      </p:sp>
      <p:pic>
        <p:nvPicPr>
          <p:cNvPr descr="41,400+ Isometric People Computer Stock Photos, Pictures &amp; Royalty-Free  Images - iStock | Computer illustration" id="427" name="Google Shape;427;p34"/>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428" name="Google Shape;428;p34"/>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429" name="Google Shape;429;p34"/>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430" name="Google Shape;430;p34"/>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grpSp>
        <p:nvGrpSpPr>
          <p:cNvPr id="431" name="Google Shape;431;p34"/>
          <p:cNvGrpSpPr/>
          <p:nvPr/>
        </p:nvGrpSpPr>
        <p:grpSpPr>
          <a:xfrm>
            <a:off x="8389071" y="448397"/>
            <a:ext cx="3209844" cy="3622538"/>
            <a:chOff x="848152" y="22927"/>
            <a:chExt cx="3209844" cy="3622538"/>
          </a:xfrm>
        </p:grpSpPr>
        <p:sp>
          <p:nvSpPr>
            <p:cNvPr id="432" name="Google Shape;432;p34"/>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4"/>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4"/>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4"/>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436" name="Google Shape;436;p34"/>
            <p:cNvSpPr/>
            <p:nvPr/>
          </p:nvSpPr>
          <p:spPr>
            <a:xfrm>
              <a:off x="2044966" y="1255507"/>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4"/>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438" name="Google Shape;438;p34"/>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4"/>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440" name="Google Shape;440;p34"/>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4"/>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442" name="Google Shape;442;p34"/>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5"/>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pic>
        <p:nvPicPr>
          <p:cNvPr descr="41,400+ Isometric People Computer Stock Photos, Pictures &amp; Royalty-Free  Images - iStock | Computer illustration" id="449" name="Google Shape;449;p35"/>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450" name="Google Shape;450;p35"/>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451" name="Google Shape;451;p35"/>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452" name="Google Shape;452;p35"/>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grpSp>
        <p:nvGrpSpPr>
          <p:cNvPr id="453" name="Google Shape;453;p35"/>
          <p:cNvGrpSpPr/>
          <p:nvPr/>
        </p:nvGrpSpPr>
        <p:grpSpPr>
          <a:xfrm>
            <a:off x="8389071" y="448397"/>
            <a:ext cx="3209844" cy="3622538"/>
            <a:chOff x="848152" y="22927"/>
            <a:chExt cx="3209844" cy="3622538"/>
          </a:xfrm>
        </p:grpSpPr>
        <p:sp>
          <p:nvSpPr>
            <p:cNvPr id="454" name="Google Shape;454;p35"/>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5"/>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5"/>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5"/>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458" name="Google Shape;458;p35"/>
            <p:cNvSpPr/>
            <p:nvPr/>
          </p:nvSpPr>
          <p:spPr>
            <a:xfrm>
              <a:off x="2044966" y="1255507"/>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5"/>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460" name="Google Shape;460;p35"/>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5"/>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462" name="Google Shape;462;p35"/>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5"/>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464" name="Google Shape;464;p35"/>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5" name="Google Shape;465;p35"/>
          <p:cNvSpPr txBox="1"/>
          <p:nvPr/>
        </p:nvSpPr>
        <p:spPr>
          <a:xfrm>
            <a:off x="838200" y="1577263"/>
            <a:ext cx="5690660"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Task</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Create and containerize a morale-boosting app that has been reviewed and approved internally by someone else on your team. </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Conditions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You have one hour to complete this task </a:t>
            </a:r>
            <a:r>
              <a:rPr lang="en-US" sz="2400">
                <a:solidFill>
                  <a:srgbClr val="FF0000"/>
                </a:solidFill>
                <a:latin typeface="Arial"/>
                <a:ea typeface="Arial"/>
                <a:cs typeface="Arial"/>
                <a:sym typeface="Arial"/>
              </a:rPr>
              <a:t>using the provided instructions</a:t>
            </a:r>
            <a:r>
              <a:rPr lang="en-US" sz="2400">
                <a:solidFill>
                  <a:schemeClr val="dk1"/>
                </a:solidFill>
                <a:latin typeface="Arial"/>
                <a:ea typeface="Arial"/>
                <a:cs typeface="Arial"/>
                <a:sym typeface="Arial"/>
              </a:rPr>
              <a:t>.</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You have access to a GitHub.</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You are authorized to use whatever code editor you want.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6"/>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pic>
        <p:nvPicPr>
          <p:cNvPr descr="41,400+ Isometric People Computer Stock Photos, Pictures &amp; Royalty-Free  Images - iStock | Computer illustration" id="472" name="Google Shape;472;p36"/>
          <p:cNvPicPr preferRelativeResize="0"/>
          <p:nvPr/>
        </p:nvPicPr>
        <p:blipFill rotWithShape="1">
          <a:blip r:embed="rId3">
            <a:alphaModFix/>
          </a:blip>
          <a:srcRect b="0" l="8858" r="49680" t="50000"/>
          <a:stretch/>
        </p:blipFill>
        <p:spPr>
          <a:xfrm>
            <a:off x="7514852" y="2801885"/>
            <a:ext cx="1260650" cy="1301678"/>
          </a:xfrm>
          <a:prstGeom prst="rect">
            <a:avLst/>
          </a:prstGeom>
          <a:noFill/>
          <a:ln>
            <a:noFill/>
          </a:ln>
        </p:spPr>
      </p:pic>
      <p:pic>
        <p:nvPicPr>
          <p:cNvPr descr="1,248 River Isometric View Stock Vectors and Vector Art | Shutterstock" id="473" name="Google Shape;473;p36"/>
          <p:cNvPicPr preferRelativeResize="0"/>
          <p:nvPr/>
        </p:nvPicPr>
        <p:blipFill rotWithShape="1">
          <a:blip r:embed="rId4">
            <a:alphaModFix/>
          </a:blip>
          <a:srcRect b="9779" l="3369" r="3464" t="4695"/>
          <a:stretch/>
        </p:blipFill>
        <p:spPr>
          <a:xfrm>
            <a:off x="7759112" y="3205076"/>
            <a:ext cx="3265714" cy="2280976"/>
          </a:xfrm>
          <a:prstGeom prst="rect">
            <a:avLst/>
          </a:prstGeom>
          <a:noFill/>
          <a:ln>
            <a:noFill/>
          </a:ln>
        </p:spPr>
      </p:pic>
      <p:pic>
        <p:nvPicPr>
          <p:cNvPr descr="41,400+ Isometric People Computer Stock Photos, Pictures &amp; Royalty-Free  Images - iStock | Computer illustration" id="474" name="Google Shape;474;p36"/>
          <p:cNvPicPr preferRelativeResize="0"/>
          <p:nvPr/>
        </p:nvPicPr>
        <p:blipFill rotWithShape="1">
          <a:blip r:embed="rId5">
            <a:alphaModFix/>
          </a:blip>
          <a:srcRect b="42600" l="47990" r="7537" t="7856"/>
          <a:stretch/>
        </p:blipFill>
        <p:spPr>
          <a:xfrm flipH="1">
            <a:off x="10227447" y="4587564"/>
            <a:ext cx="1364723" cy="1301679"/>
          </a:xfrm>
          <a:prstGeom prst="rect">
            <a:avLst/>
          </a:prstGeom>
          <a:noFill/>
          <a:ln>
            <a:noFill/>
          </a:ln>
        </p:spPr>
      </p:pic>
      <p:sp>
        <p:nvSpPr>
          <p:cNvPr id="475" name="Google Shape;475;p36"/>
          <p:cNvSpPr/>
          <p:nvPr/>
        </p:nvSpPr>
        <p:spPr>
          <a:xfrm>
            <a:off x="6528860" y="4580434"/>
            <a:ext cx="3688126"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5400" cap="none">
                <a:solidFill>
                  <a:schemeClr val="dk1"/>
                </a:solidFill>
                <a:latin typeface="Arial"/>
                <a:ea typeface="Arial"/>
                <a:cs typeface="Arial"/>
                <a:sym typeface="Arial"/>
              </a:rPr>
              <a:t>DevSecOps</a:t>
            </a:r>
            <a:endParaRPr/>
          </a:p>
        </p:txBody>
      </p:sp>
      <p:grpSp>
        <p:nvGrpSpPr>
          <p:cNvPr id="476" name="Google Shape;476;p36"/>
          <p:cNvGrpSpPr/>
          <p:nvPr/>
        </p:nvGrpSpPr>
        <p:grpSpPr>
          <a:xfrm>
            <a:off x="8389071" y="448397"/>
            <a:ext cx="3209844" cy="3622538"/>
            <a:chOff x="848152" y="22927"/>
            <a:chExt cx="3209844" cy="3622538"/>
          </a:xfrm>
        </p:grpSpPr>
        <p:sp>
          <p:nvSpPr>
            <p:cNvPr id="477" name="Google Shape;477;p36"/>
            <p:cNvSpPr/>
            <p:nvPr/>
          </p:nvSpPr>
          <p:spPr>
            <a:xfrm>
              <a:off x="969668" y="149028"/>
              <a:ext cx="2957642" cy="1027150"/>
            </a:xfrm>
            <a:prstGeom prst="ellipse">
              <a:avLst/>
            </a:prstGeom>
            <a:solidFill>
              <a:srgbClr val="BABAB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6"/>
            <p:cNvSpPr/>
            <p:nvPr/>
          </p:nvSpPr>
          <p:spPr>
            <a:xfrm>
              <a:off x="2166481" y="2664171"/>
              <a:ext cx="573186" cy="366839"/>
            </a:xfrm>
            <a:prstGeom prst="downArrow">
              <a:avLst>
                <a:gd fmla="val 50000" name="adj1"/>
                <a:gd fmla="val 50000" name="adj2"/>
              </a:avLst>
            </a:prstGeom>
            <a:solidFill>
              <a:srgbClr val="A8A8A8"/>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6"/>
            <p:cNvSpPr/>
            <p:nvPr/>
          </p:nvSpPr>
          <p:spPr>
            <a:xfrm>
              <a:off x="1077427" y="2957642"/>
              <a:ext cx="2751295" cy="6878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6"/>
            <p:cNvSpPr txBox="1"/>
            <p:nvPr/>
          </p:nvSpPr>
          <p:spPr>
            <a:xfrm>
              <a:off x="1077427" y="2957642"/>
              <a:ext cx="2751295" cy="687823"/>
            </a:xfrm>
            <a:prstGeom prst="rect">
              <a:avLst/>
            </a:prstGeom>
            <a:noFill/>
            <a:ln>
              <a:noFill/>
            </a:ln>
          </p:spPr>
          <p:txBody>
            <a:bodyPr anchorCtr="0" anchor="ctr" bIns="170675" lIns="170675" spcFirstLastPara="1" rIns="170675" wrap="square" tIns="17067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481" name="Google Shape;481;p36"/>
            <p:cNvSpPr/>
            <p:nvPr/>
          </p:nvSpPr>
          <p:spPr>
            <a:xfrm>
              <a:off x="2044966" y="1255507"/>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6"/>
            <p:cNvSpPr txBox="1"/>
            <p:nvPr/>
          </p:nvSpPr>
          <p:spPr>
            <a:xfrm>
              <a:off x="2196060" y="1406601"/>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483" name="Google Shape;483;p36"/>
            <p:cNvSpPr/>
            <p:nvPr/>
          </p:nvSpPr>
          <p:spPr>
            <a:xfrm>
              <a:off x="1306701" y="481476"/>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6"/>
            <p:cNvSpPr txBox="1"/>
            <p:nvPr/>
          </p:nvSpPr>
          <p:spPr>
            <a:xfrm>
              <a:off x="1457795" y="632570"/>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485" name="Google Shape;485;p36"/>
            <p:cNvSpPr/>
            <p:nvPr/>
          </p:nvSpPr>
          <p:spPr>
            <a:xfrm>
              <a:off x="2361365" y="232025"/>
              <a:ext cx="1031735" cy="1031735"/>
            </a:xfrm>
            <a:prstGeom prst="ellipse">
              <a:avLst/>
            </a:prstGeom>
            <a:solidFill>
              <a:srgbClr val="00B0F0"/>
            </a:solidFill>
            <a:ln cap="flat" cmpd="sng" w="1905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6"/>
            <p:cNvSpPr txBox="1"/>
            <p:nvPr/>
          </p:nvSpPr>
          <p:spPr>
            <a:xfrm>
              <a:off x="2512459" y="383119"/>
              <a:ext cx="729547" cy="729547"/>
            </a:xfrm>
            <a:prstGeom prst="rect">
              <a:avLst/>
            </a:prstGeom>
            <a:noFill/>
            <a:ln>
              <a:noFill/>
            </a:ln>
          </p:spPr>
          <p:txBody>
            <a:bodyPr anchorCtr="0" anchor="ctr" bIns="13950" lIns="13950" spcFirstLastPara="1" rIns="13950" wrap="square" tIns="1395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487" name="Google Shape;487;p36"/>
            <p:cNvSpPr/>
            <p:nvPr/>
          </p:nvSpPr>
          <p:spPr>
            <a:xfrm>
              <a:off x="848152" y="22927"/>
              <a:ext cx="3209844" cy="2567875"/>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8" name="Google Shape;488;p36"/>
          <p:cNvSpPr txBox="1"/>
          <p:nvPr/>
        </p:nvSpPr>
        <p:spPr>
          <a:xfrm>
            <a:off x="838200" y="1577263"/>
            <a:ext cx="569066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Standard</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You have met the standard of this task once you have created and containerized a morale-boosting app that has been reviewed and approved internally by someone else on your team.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7"/>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95" name="Google Shape;495;p37"/>
          <p:cNvSpPr txBox="1"/>
          <p:nvPr/>
        </p:nvSpPr>
        <p:spPr>
          <a:xfrm>
            <a:off x="838200" y="1610703"/>
            <a:ext cx="1030805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Instructions</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Do coding kata 1.</a:t>
            </a:r>
            <a:endParaRPr/>
          </a:p>
          <a:p>
            <a:pPr indent="0" lvl="0" marL="0" marR="0" rtl="0" algn="l">
              <a:spcBef>
                <a:spcPts val="0"/>
              </a:spcBef>
              <a:spcAft>
                <a:spcPts val="0"/>
              </a:spcAft>
              <a:buNone/>
            </a:pPr>
            <a:r>
              <a:rPr lang="en-US" sz="2400" u="sng">
                <a:solidFill>
                  <a:schemeClr val="hlink"/>
                </a:solidFill>
                <a:latin typeface="Arial"/>
                <a:ea typeface="Arial"/>
                <a:cs typeface="Arial"/>
                <a:sym typeface="Arial"/>
                <a:hlinkClick r:id="rId3"/>
              </a:rPr>
              <a:t>https://github.com/afc-ai2c/coding-katas/</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Start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1000</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End</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1100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8"/>
          <p:cNvSpPr txBox="1"/>
          <p:nvPr/>
        </p:nvSpPr>
        <p:spPr>
          <a:xfrm>
            <a:off x="3647552" y="5021345"/>
            <a:ext cx="4893548" cy="543739"/>
          </a:xfrm>
          <a:prstGeom prst="rect">
            <a:avLst/>
          </a:prstGeom>
          <a:noFill/>
          <a:ln>
            <a:noFill/>
          </a:ln>
        </p:spPr>
        <p:txBody>
          <a:bodyPr anchorCtr="0" anchor="t" bIns="25400" lIns="25400" spcFirstLastPara="1" rIns="25400" wrap="square" tIns="25400">
            <a:spAutoFit/>
          </a:bodyPr>
          <a:lstStyle/>
          <a:p>
            <a:pPr indent="0" lvl="0" marL="0" marR="0" rtl="0" algn="ctr">
              <a:spcBef>
                <a:spcPts val="0"/>
              </a:spcBef>
              <a:spcAft>
                <a:spcPts val="0"/>
              </a:spcAft>
              <a:buClr>
                <a:srgbClr val="FFD52F"/>
              </a:buClr>
              <a:buSzPts val="3200"/>
              <a:buFont typeface="Arial"/>
              <a:buNone/>
            </a:pPr>
            <a:r>
              <a:rPr b="1" lang="en-US" sz="3200">
                <a:solidFill>
                  <a:srgbClr val="FFD52F"/>
                </a:solidFill>
                <a:latin typeface="Arial"/>
                <a:ea typeface="Arial"/>
                <a:cs typeface="Arial"/>
                <a:sym typeface="Arial"/>
              </a:rPr>
              <a:t>Break</a:t>
            </a:r>
            <a:endParaRPr/>
          </a:p>
        </p:txBody>
      </p:sp>
      <p:sp>
        <p:nvSpPr>
          <p:cNvPr id="501" name="Google Shape;501;p38"/>
          <p:cNvSpPr txBox="1"/>
          <p:nvPr>
            <p:ph type="title"/>
          </p:nvPr>
        </p:nvSpPr>
        <p:spPr>
          <a:xfrm>
            <a:off x="2741259" y="3717890"/>
            <a:ext cx="6709482" cy="10349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Arial"/>
              <a:buNone/>
            </a:pPr>
            <a:r>
              <a:rPr b="1" lang="en-US">
                <a:solidFill>
                  <a:schemeClr val="lt1"/>
                </a:solidFill>
                <a:latin typeface="Arial"/>
                <a:ea typeface="Arial"/>
                <a:cs typeface="Arial"/>
                <a:sym typeface="Arial"/>
              </a:rPr>
              <a:t>ARTIFICIAL INTELLIGENCE INTEGRATION CENTER</a:t>
            </a:r>
            <a:endParaRPr/>
          </a:p>
        </p:txBody>
      </p:sp>
      <p:sp>
        <p:nvSpPr>
          <p:cNvPr id="502" name="Google Shape;502;p38"/>
          <p:cNvSpPr txBox="1"/>
          <p:nvPr/>
        </p:nvSpPr>
        <p:spPr>
          <a:xfrm>
            <a:off x="0" y="0"/>
            <a:ext cx="90334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Arial"/>
                <a:ea typeface="Arial"/>
                <a:cs typeface="Arial"/>
                <a:sym typeface="Arial"/>
              </a:rPr>
              <a:t>CW3 Vic Fernandez III</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9"/>
          <p:cNvSpPr txBox="1"/>
          <p:nvPr/>
        </p:nvSpPr>
        <p:spPr>
          <a:xfrm>
            <a:off x="838200" y="0"/>
            <a:ext cx="10515600" cy="132556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Quiz</a:t>
            </a:r>
            <a:endParaRPr sz="4400">
              <a:solidFill>
                <a:schemeClr val="dk1"/>
              </a:solidFill>
              <a:latin typeface="Arial"/>
              <a:ea typeface="Arial"/>
              <a:cs typeface="Arial"/>
              <a:sym typeface="Arial"/>
            </a:endParaRPr>
          </a:p>
        </p:txBody>
      </p:sp>
      <p:sp>
        <p:nvSpPr>
          <p:cNvPr id="509" name="Google Shape;509;p39"/>
          <p:cNvSpPr txBox="1"/>
          <p:nvPr/>
        </p:nvSpPr>
        <p:spPr>
          <a:xfrm>
            <a:off x="838199" y="1577263"/>
            <a:ext cx="105156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What is are some examples of a value stream?</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Physical manufacturing, food delivery, and software development. </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What are some examples of implementing the first principle of DevSecOps?</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Continuous Build, Test, Integration, Delivery, and Deployment.</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What is are some examples of implementing the second principle of DevSecOps?</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Continuous Monitoring (baking observability into an app).</a:t>
            </a:r>
            <a:endParaRPr b="1" sz="2400">
              <a:solidFill>
                <a:schemeClr val="dk1"/>
              </a:solidFill>
              <a:latin typeface="Arial"/>
              <a:ea typeface="Arial"/>
              <a:cs typeface="Arial"/>
              <a:sym typeface="Arial"/>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What is are some examples of implementing the third principle of DevSecOps?</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Continuous Improvement (sprint retrospectives).</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animEffect filter="fade" transition="in">
                                      <p:cBhvr>
                                        <p:cTn dur="500"/>
                                        <p:tgtEl>
                                          <p:spTgt spid="5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 st="1"/>
                                            </p:txEl>
                                          </p:spTgt>
                                        </p:tgtEl>
                                        <p:attrNameLst>
                                          <p:attrName>style.visibility</p:attrName>
                                        </p:attrNameLst>
                                      </p:cBhvr>
                                      <p:to>
                                        <p:strVal val="visible"/>
                                      </p:to>
                                    </p:set>
                                    <p:animEffect filter="fade" transition="in">
                                      <p:cBhvr>
                                        <p:cTn dur="500"/>
                                        <p:tgtEl>
                                          <p:spTgt spid="5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2" st="2"/>
                                            </p:txEl>
                                          </p:spTgt>
                                        </p:tgtEl>
                                        <p:attrNameLst>
                                          <p:attrName>style.visibility</p:attrName>
                                        </p:attrNameLst>
                                      </p:cBhvr>
                                      <p:to>
                                        <p:strVal val="visible"/>
                                      </p:to>
                                    </p:set>
                                    <p:animEffect filter="fade" transition="in">
                                      <p:cBhvr>
                                        <p:cTn dur="500"/>
                                        <p:tgtEl>
                                          <p:spTgt spid="5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3" st="3"/>
                                            </p:txEl>
                                          </p:spTgt>
                                        </p:tgtEl>
                                        <p:attrNameLst>
                                          <p:attrName>style.visibility</p:attrName>
                                        </p:attrNameLst>
                                      </p:cBhvr>
                                      <p:to>
                                        <p:strVal val="visible"/>
                                      </p:to>
                                    </p:set>
                                    <p:animEffect filter="fade" transition="in">
                                      <p:cBhvr>
                                        <p:cTn dur="500"/>
                                        <p:tgtEl>
                                          <p:spTgt spid="5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4" st="4"/>
                                            </p:txEl>
                                          </p:spTgt>
                                        </p:tgtEl>
                                        <p:attrNameLst>
                                          <p:attrName>style.visibility</p:attrName>
                                        </p:attrNameLst>
                                      </p:cBhvr>
                                      <p:to>
                                        <p:strVal val="visible"/>
                                      </p:to>
                                    </p:set>
                                    <p:animEffect filter="fade" transition="in">
                                      <p:cBhvr>
                                        <p:cTn dur="500"/>
                                        <p:tgtEl>
                                          <p:spTgt spid="5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5" st="5"/>
                                            </p:txEl>
                                          </p:spTgt>
                                        </p:tgtEl>
                                        <p:attrNameLst>
                                          <p:attrName>style.visibility</p:attrName>
                                        </p:attrNameLst>
                                      </p:cBhvr>
                                      <p:to>
                                        <p:strVal val="visible"/>
                                      </p:to>
                                    </p:set>
                                    <p:animEffect filter="fade" transition="in">
                                      <p:cBhvr>
                                        <p:cTn dur="500"/>
                                        <p:tgtEl>
                                          <p:spTgt spid="5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6" st="6"/>
                                            </p:txEl>
                                          </p:spTgt>
                                        </p:tgtEl>
                                        <p:attrNameLst>
                                          <p:attrName>style.visibility</p:attrName>
                                        </p:attrNameLst>
                                      </p:cBhvr>
                                      <p:to>
                                        <p:strVal val="visible"/>
                                      </p:to>
                                    </p:set>
                                    <p:animEffect filter="fade" transition="in">
                                      <p:cBhvr>
                                        <p:cTn dur="500"/>
                                        <p:tgtEl>
                                          <p:spTgt spid="5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7" st="7"/>
                                            </p:txEl>
                                          </p:spTgt>
                                        </p:tgtEl>
                                        <p:attrNameLst>
                                          <p:attrName>style.visibility</p:attrName>
                                        </p:attrNameLst>
                                      </p:cBhvr>
                                      <p:to>
                                        <p:strVal val="visible"/>
                                      </p:to>
                                    </p:set>
                                    <p:animEffect filter="fade" transition="in">
                                      <p:cBhvr>
                                        <p:cTn dur="500"/>
                                        <p:tgtEl>
                                          <p:spTgt spid="5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8" st="8"/>
                                            </p:txEl>
                                          </p:spTgt>
                                        </p:tgtEl>
                                        <p:attrNameLst>
                                          <p:attrName>style.visibility</p:attrName>
                                        </p:attrNameLst>
                                      </p:cBhvr>
                                      <p:to>
                                        <p:strVal val="visible"/>
                                      </p:to>
                                    </p:set>
                                    <p:animEffect filter="fade" transition="in">
                                      <p:cBhvr>
                                        <p:cTn dur="500"/>
                                        <p:tgtEl>
                                          <p:spTgt spid="50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9" st="9"/>
                                            </p:txEl>
                                          </p:spTgt>
                                        </p:tgtEl>
                                        <p:attrNameLst>
                                          <p:attrName>style.visibility</p:attrName>
                                        </p:attrNameLst>
                                      </p:cBhvr>
                                      <p:to>
                                        <p:strVal val="visible"/>
                                      </p:to>
                                    </p:set>
                                    <p:animEffect filter="fade" transition="in">
                                      <p:cBhvr>
                                        <p:cTn dur="500"/>
                                        <p:tgtEl>
                                          <p:spTgt spid="50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0" st="10"/>
                                            </p:txEl>
                                          </p:spTgt>
                                        </p:tgtEl>
                                        <p:attrNameLst>
                                          <p:attrName>style.visibility</p:attrName>
                                        </p:attrNameLst>
                                      </p:cBhvr>
                                      <p:to>
                                        <p:strVal val="visible"/>
                                      </p:to>
                                    </p:set>
                                    <p:animEffect filter="fade" transition="in">
                                      <p:cBhvr>
                                        <p:cTn dur="500"/>
                                        <p:tgtEl>
                                          <p:spTgt spid="50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1" st="11"/>
                                            </p:txEl>
                                          </p:spTgt>
                                        </p:tgtEl>
                                        <p:attrNameLst>
                                          <p:attrName>style.visibility</p:attrName>
                                        </p:attrNameLst>
                                      </p:cBhvr>
                                      <p:to>
                                        <p:strVal val="visible"/>
                                      </p:to>
                                    </p:set>
                                    <p:animEffect filter="fade" transition="in">
                                      <p:cBhvr>
                                        <p:cTn dur="500"/>
                                        <p:tgtEl>
                                          <p:spTgt spid="50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0"/>
          <p:cNvSpPr txBox="1"/>
          <p:nvPr/>
        </p:nvSpPr>
        <p:spPr>
          <a:xfrm>
            <a:off x="3647552" y="5021345"/>
            <a:ext cx="4893548" cy="543739"/>
          </a:xfrm>
          <a:prstGeom prst="rect">
            <a:avLst/>
          </a:prstGeom>
          <a:noFill/>
          <a:ln>
            <a:noFill/>
          </a:ln>
        </p:spPr>
        <p:txBody>
          <a:bodyPr anchorCtr="0" anchor="t" bIns="25400" lIns="25400" spcFirstLastPara="1" rIns="25400" wrap="square" tIns="25400">
            <a:spAutoFit/>
          </a:bodyPr>
          <a:lstStyle/>
          <a:p>
            <a:pPr indent="0" lvl="0" marL="0" marR="0" rtl="0" algn="ctr">
              <a:spcBef>
                <a:spcPts val="0"/>
              </a:spcBef>
              <a:spcAft>
                <a:spcPts val="0"/>
              </a:spcAft>
              <a:buClr>
                <a:srgbClr val="FFD52F"/>
              </a:buClr>
              <a:buSzPts val="3200"/>
              <a:buFont typeface="Arial"/>
              <a:buNone/>
            </a:pPr>
            <a:r>
              <a:rPr b="1" lang="en-US" sz="3200">
                <a:solidFill>
                  <a:srgbClr val="FFD52F"/>
                </a:solidFill>
                <a:latin typeface="Arial"/>
                <a:ea typeface="Arial"/>
                <a:cs typeface="Arial"/>
                <a:sym typeface="Arial"/>
              </a:rPr>
              <a:t>Questions?</a:t>
            </a:r>
            <a:endParaRPr/>
          </a:p>
        </p:txBody>
      </p:sp>
      <p:sp>
        <p:nvSpPr>
          <p:cNvPr id="515" name="Google Shape;515;p40"/>
          <p:cNvSpPr txBox="1"/>
          <p:nvPr>
            <p:ph type="title"/>
          </p:nvPr>
        </p:nvSpPr>
        <p:spPr>
          <a:xfrm>
            <a:off x="2741259" y="3717890"/>
            <a:ext cx="6709482" cy="10349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Arial"/>
              <a:buNone/>
            </a:pPr>
            <a:r>
              <a:rPr b="1" lang="en-US">
                <a:solidFill>
                  <a:schemeClr val="lt1"/>
                </a:solidFill>
                <a:latin typeface="Arial"/>
                <a:ea typeface="Arial"/>
                <a:cs typeface="Arial"/>
                <a:sym typeface="Arial"/>
              </a:rPr>
              <a:t>ARTIFICIAL INTELLIGENCE INTEGRATION CENTER</a:t>
            </a:r>
            <a:endParaRPr/>
          </a:p>
        </p:txBody>
      </p:sp>
      <p:sp>
        <p:nvSpPr>
          <p:cNvPr id="516" name="Google Shape;516;p40"/>
          <p:cNvSpPr txBox="1"/>
          <p:nvPr/>
        </p:nvSpPr>
        <p:spPr>
          <a:xfrm>
            <a:off x="0" y="0"/>
            <a:ext cx="90334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Arial"/>
                <a:ea typeface="Arial"/>
                <a:cs typeface="Arial"/>
                <a:sym typeface="Arial"/>
              </a:rPr>
              <a:t>CW3 Vic Fernandez III</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